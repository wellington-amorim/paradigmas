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Abertura (1 min).</a:t>
            </a:r>
          </a:p>
          <a:p>
            <a:r>
              <a:t>Até agora, todos os programas da disciplina executaram UMA coisa de cada vez. Hoje: várias tarefas ao mesmo tempo. É o assunto em que os erros são mais difíceis de encontrar, porque aparecem só ÀS VEZES.</a:t>
            </a:r>
          </a:p>
          <a:p>
            <a:r>
              <a:t>Formato: expositiva, com demonstrações ao vivo no OneCompiler. ATENÇÃO: vários exemplos dão resultados DIFERENTES a cada execução, e isso é a lição. Rode-os duas ou três vezes na frente da turma.</a:t>
            </a:r>
          </a:p>
          <a:p>
            <a:r>
              <a:t>Todos os exemplos estão em Aula010/exemplos (ver README.md) e foram testados no OneCompiler.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Problematização (até 5 min).</a:t>
            </a:r>
          </a:p>
          <a:p>
            <a:r>
              <a:t>Leia o objetivo. A frase-chave é "só aparecem às vezes": um erro de concorrência pode passar em todos os testes e aparecer em produção.</a:t>
            </a:r>
          </a:p>
          <a:p/>
          <a:p>
            <a:r>
              <a:t>Os três casos:</a:t>
            </a:r>
          </a:p>
          <a:p>
            <a:r>
              <a:t>- Therac-25 (1985-1987): máquina de radioterapia controlada por software. Se o operador editasse os dados do tratamento muito rápido (em poucos segundos), uma condição de corrida entre a tarefa da interface e a que configurava o equipamento deixava o feixe em modo de alta potência sem o filtro. Houve seis acidentes com superdosagens maciças e ao menos três mortes. É o caso clássico estudado em Engenharia de Software (relatório de Nancy Leveson).</a:t>
            </a:r>
          </a:p>
          <a:p>
            <a:r>
              <a:t>- Apagão de 14/08/2003 (EUA e Canadá): no centro de controle da FirstEnergy, uma condição de corrida no sistema de gerenciamento de energia (GE XA/21) travou o processamento de alarmes SEM avisar os operadores. Eles não viram as linhas caindo, e a falha em cascata deixou cerca de 50 milhões de pessoas sem energia.</a:t>
            </a:r>
          </a:p>
          <a:p>
            <a:r>
              <a:t>- Mars Pathfinder (julho de 1997): o robô reiniciava sozinho. Uma tarefa de BAIXA prioridade segurava um mutex de que a tarefa de ALTA prioridade precisava, e tarefas de prioridade média impediam a de baixa de terminar ("inversão de prioridade"). Os engenheiros reproduziram o problema na Terra e ativaram, remotamente, a herança de prioridade no mutex do sistema VxWorks.</a:t>
            </a:r>
          </a:p>
          <a:p>
            <a:r>
              <a:t>Mensagem: os três problemas são do Cap. 13 (competição, sincronização e escalonamento).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(1 min).</a:t>
            </a:r>
          </a:p>
          <a:p>
            <a:r>
              <a:t>Ficam para autopesquisa (último slide): tarefas e rendezvous em Ada (com exemplo pronto que roda no OneCompiler), linhas de execução em C#, concorrência em linguagens funcionais (atores em Elixir) e concorrência em nível de sentença (fluxos paralelos, HPF).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~3 min.</a:t>
            </a:r>
          </a:p>
          <a:p>
            <a:r>
              <a:t>Níveis (p. 542): instrução, sentença, unidade (subprograma) e programa. O capítulo trata dos níveis de SENTENÇA e de UNIDADE.</a:t>
            </a:r>
          </a:p>
          <a:p>
            <a:r>
              <a:t>Categorias (p. 545-546):</a:t>
            </a:r>
          </a:p>
          <a:p>
            <a:r>
              <a:t>- concorrência FÍSICA: vários processadores executando unidades do mesmo programa ao mesmo tempo;</a:t>
            </a:r>
          </a:p>
          <a:p>
            <a:r>
              <a:t>- concorrência LÓGICA: parece simultânea, mas é intercalada num único processador (fatias de tempo). Para o programador, é o mesmo problema.</a:t>
            </a:r>
          </a:p>
          <a:p>
            <a:r>
              <a:t>Linha de execução de controle (thread of control): a sequência de pontos alcançados na execução. Um programa com várias é "multithreaded" (p. 546).</a:t>
            </a:r>
          </a:p>
          <a:p>
            <a:r>
              <a:t>Concorrência oculta e o fim da era da frequência (p. 545): por décadas, o hardware ficou mais rápido sozinho (pipelines, cache). Os aumentos de velocidade por processador pararam, e o ganho agora vem de MAIS NÚCLEOS. Seu celular tem de 6 a 8. Se o software não usar vários núcleos, esse poder é desperdiçado.</a:t>
            </a:r>
          </a:p>
          <a:p>
            <a:r>
              <a:t>Quatro motivações (p. 546-547):</a:t>
            </a:r>
          </a:p>
          <a:p>
            <a:r>
              <a:t>1) velocidade em máquinas com vários processadores;</a:t>
            </a:r>
          </a:p>
          <a:p>
            <a:r>
              <a:t>2) mesmo com um processador, esperar E/S sem parar tudo (a interface continua respondendo enquanto se baixa um arquivo);</a:t>
            </a:r>
          </a:p>
          <a:p>
            <a:r>
              <a:t>3) muitos problemas são naturalmente concorrentes (simulações, servidores com milhares de clientes);</a:t>
            </a:r>
          </a:p>
          <a:p>
            <a:r>
              <a:t>4) aplicações distribuídas por várias máquinas.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~3 min.</a:t>
            </a:r>
          </a:p>
          <a:p>
            <a:r>
              <a:t>Tarefa (p. 547): uma unidade de programa que pode executar concorrentemente com outras. Em Java e C#, certos métodos (run) são as tarefas, executados em objetos Thread.</a:t>
            </a:r>
          </a:p>
          <a:p>
            <a:r>
              <a:t>Três diferenças para um subprograma (p. 547): a tarefa pode ser iniciada implicitamente; quem a inicia NÃO precisa esperar que ela termine; e ao terminar, o controle pode não voltar para quem a iniciou.</a:t>
            </a:r>
          </a:p>
          <a:p>
            <a:r>
              <a:t>Pesadas × leves (p. 547): as tarefas pesadas (processos) têm seu próprio espaço de endereçamento. As leves (threads) compartilham o mesmo espaço, e por isso são mais baratas, mas também mais perigosas. Tarefa disjunta: não se comunica com nenhuma outra.</a:t>
            </a:r>
          </a:p>
          <a:p>
            <a:r>
              <a:t>Sincronização (p. 547-548): controla a ORDEM de execução.</a:t>
            </a:r>
          </a:p>
          <a:p>
            <a:r>
              <a:t>- COOPERAÇÃO: A precisa esperar B terminar algo específico. Exemplo: produtor-consumidor, em que o consumidor não pode retirar de um buffer vazio e o produtor não pode depositar num buffer cheio.</a:t>
            </a:r>
          </a:p>
          <a:p>
            <a:r>
              <a:t>- COMPETIÇÃO: A e B querem o mesmo recurso, que não pode ser usado simultaneamente. É preciso EXCLUSÃO MÚTUA.</a:t>
            </a:r>
          </a:p>
          <a:p>
            <a:r>
              <a:t>Três mecanismos para exclusão mútua (p. 549): semáforos, monitores e passagem de mensagens, que são os três grandes blocos da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~5 min. DEMONSTRAÇÃO: corrida_total.py e depois Corrida.java, DUAS vezes seguidas. O número muda!</a:t>
            </a:r>
          </a:p>
          <a:p/>
          <a:p>
            <a:r>
              <a:t>O exemplo do livro (p. 548): TOTAL = 3. A tarefa A faz TOTAL += 1 e a tarefa B faz TOTAL *= 2. Cada operação são TRÊS passos de máquina: obter o valor, calcular e gravar de volta.</a:t>
            </a:r>
          </a:p>
          <a:p>
            <a:r>
              <a:t>Os quatro resultados possíveis:</a:t>
            </a:r>
          </a:p>
          <a:p>
            <a:r>
              <a:t>- 8: A inteira antes de B (considerado o correto);</a:t>
            </a:r>
          </a:p>
          <a:p>
            <a:r>
              <a:t>- 7: B inteira antes de A;</a:t>
            </a:r>
          </a:p>
          <a:p>
            <a:r>
              <a:t>- 6: as duas leem 3, e A grava por último (e se perde a multiplicação);</a:t>
            </a:r>
          </a:p>
          <a:p>
            <a:r>
              <a:t>- 4: as duas leem 3, e B grava por último (e se perde a soma).</a:t>
            </a:r>
          </a:p>
          <a:p>
            <a:r>
              <a:t>A Figura 13.1 mostra o caso do 6. O programa corrida_total.py testa as 20 intercalações possíveis dos 6 passos: 4 e 6 aparecem 9 vezes cada, e 7 e 8 só uma vez cada. Ou seja, SEM sincronização, o resultado "certo" é o menos provável!</a:t>
            </a:r>
          </a:p>
          <a:p>
            <a:r>
              <a:t>Isso se chama CONDIÇÃO DE CORRIDA: o resultado depende de qual tarefa "chega primeiro".</a:t>
            </a:r>
          </a:p>
          <a:p>
            <a:r>
              <a:t>Java (Corrida.java): duas threads fazem contador++ um milhão de vezes cada. O contador++ também é ler-somar-gravar. No OneCompiler deu 1.011.017 em vez de 2.000.000, e cada execução dá um número diferente.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~3 min.</a:t>
            </a:r>
          </a:p>
          <a:p>
            <a:r>
              <a:t>Escalonador (p. 549): parte do sistema de execução que decide qual tarefa pronta ocupa cada processador, por fatias de tempo, prioridades ou eventos.</a:t>
            </a:r>
          </a:p>
          <a:p>
            <a:r>
              <a:t>Estados de uma tarefa (p. 549-550, Figura 13.2):</a:t>
            </a:r>
          </a:p>
          <a:p>
            <a:r>
              <a:t>- NOVA: criada, mas ainda não iniciada;</a:t>
            </a:r>
          </a:p>
          <a:p>
            <a:r>
              <a:t>- PRONTA: pode executar, e está na fila de tarefas prontas esperando um processador;</a:t>
            </a:r>
          </a:p>
          <a:p>
            <a:r>
              <a:t>- EXECUTANDO: tem um processador;</a:t>
            </a:r>
          </a:p>
          <a:p>
            <a:r>
              <a:t>- BLOQUEADA: esperando algo (E/S, uma trava, um sleep);</a:t>
            </a:r>
          </a:p>
          <a:p>
            <a:r>
              <a:t>- MORTA: terminou, ou foi terminada explicitamente.</a:t>
            </a:r>
          </a:p>
          <a:p>
            <a:r>
              <a:t>Transições: pronta → executando (escalonada); executando → pronta (fim da fatia de tempo); executando → bloqueada (pediu E/S); bloqueada → pronta (a E/S terminou); executando → morta.</a:t>
            </a:r>
          </a:p>
          <a:p>
            <a:r>
              <a:t>Vivacidade (liveness, p. 551): a garantia de que o programa continua progredindo. Em programas concorrentes, ela pode ser perdida, e o caso mais famoso é o IMPASSE (próximo slide).</a:t>
            </a:r>
          </a:p>
          <a:p>
            <a:r>
              <a:t>Mars Pathfinder (slide 2): a tarefa de alta prioridade ficou BLOQUEADA esperando um mutex, enquanto a de baixa prioridade (que o segurava) ficava PRONTA sem nunca ser escalonada, por causa das tarefas médias.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~4 min. DEMONSTRAÇÃO: Impasse.java. Depois de 1 s, o próprio programa detecta o impasse (ThreadMXBean.findDeadlockedThreads) e se encerra com System.exit, porque sem isso ficaria parado para sempre.</a:t>
            </a:r>
          </a:p>
          <a:p/>
          <a:p>
            <a:r>
              <a:t>O exemplo do livro (p. 551): as tarefas A e B precisam dos recursos X e Y. A consegue X e B consegue Y. A pede Y e espera B, e B pede X e espera A. Nenhuma libera nada, e as duas perdem a vivacidade PARA SEMPRE.</a:t>
            </a:r>
          </a:p>
          <a:p>
            <a:r>
              <a:t>O Sebesta chama o impasse de uma séria ameaça à confiabilidade. Evitá-lo exige cuidado tanto no projeto da linguagem quanto no do programa.</a:t>
            </a:r>
          </a:p>
          <a:p>
            <a:r>
              <a:t>Condições para haver impasse (Coffman, 1971): exclusão mútua; segurar um recurso enquanto espera outro; nenhuma preempção; e ESPERA CIRCULAR. Quebre uma delas e o impasse some.</a:t>
            </a:r>
          </a:p>
          <a:p>
            <a:r>
              <a:t>A solução prática mais comum é adquirir as travas SEMPRE NA MESMA ORDEM (por exemplo, sempre X antes de Y). O exercício 4 (transferências entre contas) cai exatamente nesse erro: a transferência de A para B trava A e depois B, e a de B para A trava B e depois A.</a:t>
            </a:r>
          </a:p>
          <a:p>
            <a:r>
              <a:t>Outras soluções: tryLock com tempo limite (ReentrantLock.tryLock, p. 577) e evitar memória compartilhada, usando mensagens.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~2 min.</a:t>
            </a:r>
          </a:p>
          <a:p>
            <a:r>
              <a:t>Questões de projeto para concorrência em nível de unidade (p. 551-552):</a:t>
            </a:r>
          </a:p>
          <a:p>
            <a:r>
              <a:t>- como a sincronização de COOPERAÇÃO é fornecida?</a:t>
            </a:r>
          </a:p>
          <a:p>
            <a:r>
              <a:t>- como a sincronização de COMPETIÇÃO é fornecida?</a:t>
            </a:r>
          </a:p>
          <a:p>
            <a:r>
              <a:t>- como e quando as tarefas começam e terminam?</a:t>
            </a:r>
          </a:p>
          <a:p>
            <a:r>
              <a:t>- as tarefas são criadas estática ou dinamicamente?</a:t>
            </a:r>
          </a:p>
          <a:p>
            <a:r>
              <a:t>O livro apresenta três estratégias (Seções 13.3 a 13.5), em ordem histórica e de nível de abstração crescente:</a:t>
            </a:r>
          </a:p>
          <a:p>
            <a:r>
              <a:t>- semáforos (Dijkstra, 1965): primitivos, poderosos e fáceis de usar errado;</a:t>
            </a:r>
          </a:p>
          <a:p>
            <a:r>
              <a:t>- monitores (Brinch Hansen e Hoare, 1973-1974): encapsulam os dados compartilhados como um TAD, e a exclusão mútua fica automática;</a:t>
            </a:r>
          </a:p>
          <a:p>
            <a:r>
              <a:t>- passagem de mensagens (Hoare, CSP 1978; Ada): as tarefas não compartilham dados, e sim trocam mensagens.</a:t>
            </a:r>
          </a:p>
          <a:p>
            <a:r>
              <a:t>Hoje as três convivem: Java tem as três (Semaphore, synchronized e filas bloqueantes). Go favorece mensagens (canais). Rust oferece travas e canais, com o compilador verificando o uso.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~5 min. DEMONSTRAÇÃO: Semaforo.java. Os valores produzidos e consumidos saem intercalados de formas diferentes a cada execução, mas nunca se perde nem se repete um valor.</a:t>
            </a:r>
          </a:p>
          <a:p/>
          <a:p>
            <a:r>
              <a:t>Sebesta (p. 552): Dijkstra (1965). Um semáforo é uma estrutura com um CONTADOR inteiro e uma FILA de descritores de tarefas. É uma implementação de uma GUARDA: o código guardado só executa quando uma condição é verdadeira.</a:t>
            </a:r>
          </a:p>
          <a:p>
            <a:r>
              <a:t>Duas operações (p. 553-554), P e V nos artigos originais de Dijkstra:</a:t>
            </a:r>
          </a:p>
          <a:p>
            <a:r>
              <a:t>- wait (acquire): se o contador for maior que zero, decrementa e segue; senão, a tarefa vai para a fila;</a:t>
            </a:r>
          </a:p>
          <a:p>
            <a:r>
              <a:t>- release: se houver alguém na fila, acorda um; senão, incrementa o contador.</a:t>
            </a:r>
          </a:p>
          <a:p>
            <a:r>
              <a:t>Produtor-consumidor (p. 553-556):</a:t>
            </a:r>
          </a:p>
          <a:p>
            <a:r>
              <a:t>- emptyspots conta os espaços vazios e começa com o tamanho do buffer;</a:t>
            </a:r>
          </a:p>
          <a:p>
            <a:r>
              <a:t>- fullspots conta os espaços ocupados e começa com 0;</a:t>
            </a:r>
          </a:p>
          <a:p>
            <a:r>
              <a:t>- access é um semáforo BINÁRIO (contador 0 ou 1) que garante a exclusão mútua no acesso ao buffer (competição).</a:t>
            </a:r>
          </a:p>
          <a:p>
            <a:r>
              <a:t>Java (p. 572): java.util.concurrent.Semaphore com acquire() e release(). O código do slide segue exatamente o livro.</a:t>
            </a:r>
          </a:p>
          <a:p>
            <a:r>
              <a:t>Avaliação (p. 556-557): esquecer um release causa impasse, e esquecer um wait causa estouro do buffer. Nada no programa garante o uso correto: um semáforo é uma ferramenta elegante para um programador ideal que nunca erra. Por isso vieram os monitores.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~5 min. DEMONSTRAÇÃO: Monitor.java (a soma dá sempre 55).</a:t>
            </a:r>
          </a:p>
          <a:p/>
          <a:p>
            <a:r>
              <a:t>Ideia (p. 557): aplicar a ABSTRAÇÃO DE DADOS (aula passada!) aos dados compartilhados. Os dados ficam DENTRO do monitor, e o acesso só acontece por suas operações. A exclusão mútua é garantida pelo sistema de execução, sem semáforos.</a:t>
            </a:r>
          </a:p>
          <a:p>
            <a:r>
              <a:t>História (p. 557): Dijkstra sugeriu a ideia (1971), Brinch Hansen formalizou (1973) e Hoare deu o nome de "monitor" (1974). A primeira linguagem com monitores foi o Pascal Concorrente (1975). Hoje: Ada (objetos protegidos), Java (synchronized) e C# (classe Monitor e lock).</a:t>
            </a:r>
          </a:p>
          <a:p>
            <a:r>
              <a:t>Competição (p. 557-558): automática. Só uma tarefa por vez executa dentro do monitor.</a:t>
            </a:r>
          </a:p>
          <a:p>
            <a:r>
              <a:t>Cooperação (p. 558): continua MANUAL. Em Java, wait() libera o monitor e espera, e notifyAll() acorda quem espera. O while (e não if) em volta do wait é obrigatório, porque a condição pode ter mudado quando a tarefa acordar. O notifyAll (p. 578) é necessário porque a mesma fila de espera guarda tarefas esperando condições diferentes (buffer cheio e buffer vazio).</a:t>
            </a:r>
          </a:p>
          <a:p>
            <a:r>
              <a:t>Avaliação (p. 558): os monitores são melhores que os semáforos para a competição. Semáforos e monitores têm o mesmo poder de expressão (um implementa o outro). Os monitores não servem para sistemas distribuídos, e para isso existe a passagem de mensagens.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~4 min. DEMONSTRAÇÃO: Atomico.java (três soluções corretas) e Virtuais.java (10.000 tarefas em cerca de 1 s).</a:t>
            </a:r>
          </a:p>
          <a:p/>
          <a:p>
            <a:r>
              <a:t>Java (p. 568-571): as linhas de execução são leves. Há duas formas de criar: estender Thread ou implementar Runnable (melhor, porque a classe continua livre para herdar de outra). start() inicia, join() espera terminar e sleep() bloqueia.</a:t>
            </a:r>
          </a:p>
          <a:p>
            <a:r>
              <a:t>Três formas de exclusão mútua:</a:t>
            </a:r>
          </a:p>
          <a:p>
            <a:r>
              <a:t>- synchronized (p. 572-573): trava implícita do objeto, liberada automaticamente no fim do bloco;</a:t>
            </a:r>
          </a:p>
          <a:p>
            <a:r>
              <a:t>- atômicos (java.util.concurrent.atomic, p. 577): AtomicInteger.incrementAndGet() usa instruções atômicas do processador, SEM bloquear. É mais rápido para uma variável isolada;</a:t>
            </a:r>
          </a:p>
          <a:p>
            <a:r>
              <a:t>- cadeados explícitos (p. 577-578): ReentrantLock com lock(), unlock() e tryLock(). É mais flexível (tentar com tempo limite), mas o unlock precisa ficar no finally. O perigo que o livro aponta é esquecer de destravar.</a:t>
            </a:r>
          </a:p>
          <a:p>
            <a:r>
              <a:t>Moderno: ExecutorService (grupos de threads) e, desde o Java 21, THREADS VIRTUAIS. Milhões de tarefas leves gerenciadas pela JVM, e não pelo sistema operacional. Virtuais.java cria 10.000 tarefas que dormem 1 s cada, e tudo termina em cerca de 1 s. Com threads do sistema operacional, isso custaria gigabytes de memória.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~4 min. DEMONSTRAÇÃO: canais.go.</a:t>
            </a:r>
          </a:p>
          <a:p/>
          <a:p>
            <a:r>
              <a:t>Sebesta (p. 559): Brinch Hansen e Hoare (1978). Em vez de compartilhar dados, as tarefas TROCAM MENSAGENS. Não confunda com a "mensagem" da OO (a chamada de método).</a:t>
            </a:r>
          </a:p>
          <a:p>
            <a:r>
              <a:t>Passagem SÍNCRONA (p. 559-560): quem envia e quem recebe precisam estar prontos ao mesmo tempo. A transmissão é o RENDEZVOUS ("encontro"). Se o receptor está ocupado, o emissor espera.</a:t>
            </a:r>
          </a:p>
          <a:p>
            <a:r>
              <a:t>Não determinismo (p. 559): quando várias tarefas querem se comunicar com a mesma, qual atender? Com justiça, por escolha não determinística, usando os comandos protegidos de Dijkstra (aula 7!).</a:t>
            </a:r>
          </a:p>
          <a:p>
            <a:r>
              <a:t>Ada (p. 560-568): tarefas com entries e accept. O select com guardas escolhe entre vários accept. O exemplo tarefas.adb (autopesquisa) roda no OneCompiler.</a:t>
            </a:r>
          </a:p>
          <a:p>
            <a:r>
              <a:t>Vantagem sobre os monitores (p. 558): funciona entre MÁQUINAS diferentes (sistemas distribuídos).</a:t>
            </a:r>
          </a:p>
          <a:p>
            <a:r>
              <a:t>Go adotou o CSP de Hoare quase literalmente:</a:t>
            </a:r>
          </a:p>
          <a:p>
            <a:r>
              <a:t>- goroutines: tarefas leves (milhares são baratas);</a:t>
            </a:r>
          </a:p>
          <a:p>
            <a:r>
              <a:t>- canais sem buffer: rendezvous síncrono, em que o envio espera o receptor;</a:t>
            </a:r>
          </a:p>
          <a:p>
            <a:r>
              <a:t>- canais com buffer: assíncronos até encher;</a:t>
            </a:r>
          </a:p>
          <a:p>
            <a:r>
              <a:t>- lema: "não comunique compartilhando memória; compartilhe memória comunicando".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~3 min. DEMONSTRAÇÃO: trabalhadores.go. A ordem das linhas muda a cada execução, mas o tempo total fica sempre perto de 100 ms.</a:t>
            </a:r>
          </a:p>
          <a:p/>
          <a:p>
            <a:r>
              <a:t>Grupo de trabalhadores (worker pool): um canal de TAREFAS e um de RESULTADOS. Três goroutines consomem as tarefas em paralelo. Seis tarefas de 50 ms com três trabalhadores levam cerca de 100 ms (e não 300 ms). É assim que um servidor atende muitos clientes.</a:t>
            </a:r>
          </a:p>
          <a:p>
            <a:r>
              <a:t>sync.WaitGroup: espera um grupo de goroutines terminar (o join delas).</a:t>
            </a:r>
          </a:p>
          <a:p>
            <a:r>
              <a:t>select (aula 7): o comando protegido de Dijkstra. Espera em VÁRIOS canais e atende o primeiro que ficar pronto, escolhendo ao acaso se houver vários. Com time.After, vira um TEMPO LIMITE: "espere a resposta, mas no máximo 200 ms". O uso típico é chamar um serviço externo sem travar o sistema se ele não responder.</a:t>
            </a:r>
          </a:p>
          <a:p>
            <a:r>
              <a:t>Ferramenta: go run -race detecta condições de corrida em execução.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~4 min. DEMONSTRAÇÃO: mensagens.rs. Depois, descomente a linha "thread::spawn(|| x += 1)" para mostrar o erro de compilação.</a:t>
            </a:r>
          </a:p>
          <a:p/>
          <a:p>
            <a:r>
              <a:t>Rust leva para a concorrência as regras de posse e empréstimo (aulas 6 e 8). A regra "vários leitores OU um escritor" vale também ENTRE threads, e é verificada na compilação.</a:t>
            </a:r>
          </a:p>
          <a:p>
            <a:r>
              <a:t>Traits marcadores:</a:t>
            </a:r>
          </a:p>
          <a:p>
            <a:r>
              <a:t>- Send: o valor pode ser MOVIDO para outra thread;</a:t>
            </a:r>
          </a:p>
          <a:p>
            <a:r>
              <a:t>- Sync: o valor pode ser COMPARTILHADO por referência entre threads.</a:t>
            </a:r>
          </a:p>
          <a:p>
            <a:r>
              <a:t>Rc (contagem de referências comum) não é Send. Arc (contagem ATÔMICA) é. Por isso Arc&lt;Mutex&lt;T&gt;&gt; é o idioma para compartilhar dados mutáveis: o Mutex guarda o dado DENTRO dele, e só se acessa o dado com o lock. É impossível esquecer de travar, porque o dado nem é alcançável sem a trava (compare com Java).</a:t>
            </a:r>
          </a:p>
          <a:p>
            <a:r>
              <a:t>Canais (mpsc): mensagens, como em Go. O move transfere a posse do tx para a thread.</a:t>
            </a:r>
          </a:p>
          <a:p>
            <a:r>
              <a:t>O slogan da comunidade é "concorrência sem medo": uma corrida de DADOS vira erro de compilação. Atenção: impasses ainda são possíveis em Rust, porque o compilador não impede espera circular.</a:t>
            </a:r>
          </a:p>
          <a:p>
            <a:r>
              <a:t>Exercício 5: o fechamento pega contador emprestado, mas a thread pode viver mais que main, e o compilador recusa (E0373) e sugere 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~5 min. DEMONSTRAÇÃO: event_loop.js (peça a ordem antes!) e async.js.</a:t>
            </a:r>
          </a:p>
          <a:p/>
          <a:p>
            <a:r>
              <a:t>JavaScript tem UMA única linha de execução (no navegador e no Node). A concorrência vem do LAÇO DE EVENTOS: operações de E/S (rede, disco, timers) são feitas "por fora", e quando terminam, o callback entra numa fila. O laço executa um callback por vez, até o fim.</a:t>
            </a:r>
          </a:p>
          <a:p>
            <a:r>
              <a:t>Duas filas: as MICROTAREFAS (promises) rodam antes das TAREFAS (setTimeout). Por isso a ordem é 1, 2, 3 (promise) e só depois 4 (setTimeout), mesmo com o tempo 0.</a:t>
            </a:r>
          </a:p>
          <a:p>
            <a:r>
              <a:t>Como é uma só thread, não existe condição de corrida no meio de uma função: ninguém interrompe o código síncrono. Mas um laço ocupado TRAVA TUDO. No exemplo, um timer de 10 ms só roda depois de 200 ms, e no navegador a página congela.</a:t>
            </a:r>
          </a:p>
          <a:p>
            <a:r>
              <a:t>async/await: escreve código assíncrono com cara de sequencial. await espera sem bloquear a thread. O Promise.all dispara as três esperas juntas: 300 ms em vez de 900 ms. É CONCORRÊNCIA SEM PARALELISMO.</a:t>
            </a:r>
          </a:p>
          <a:p>
            <a:r>
              <a:t>Python tem o mesmo modelo com asyncio (assincrono.py), e Rust com tokio. Para paralelismo real em JS existem os Web Workers (threads que se comunicam por mensagens).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~4 min. Monte a tabela com a turma: para cada linha, pergunte "qual problema esse modelo evita e qual ele não evita?"</a:t>
            </a:r>
          </a:p>
          <a:p>
            <a:r>
              <a:t>- Threads + travas (Java, C#, C++): o mais flexível e o mais perigoso (corridas e impasses).</a:t>
            </a:r>
          </a:p>
          <a:p>
            <a:r>
              <a:t>- Mensagens / CSP (Go, e Ada com rendezvous): menos dados compartilhados, mas impasses em canais continuam possíveis (exercício 6).</a:t>
            </a:r>
          </a:p>
          <a:p>
            <a:r>
              <a:t>- Atores (Erlang/Elixir, Akka): cada ator tem estado privado e só troca mensagens. O WhatsApp e o Discord usam Erlang/Elixir para milhões de conexões (autopesquisa: atores.exs).</a:t>
            </a:r>
          </a:p>
          <a:p>
            <a:r>
              <a:t>- Laço de eventos / async (JS, Python asyncio, Rust tokio): ótimo para E/S, sem corridas no meio do código síncrono, mas não usa vários núcleos.</a:t>
            </a:r>
          </a:p>
          <a:p>
            <a:r>
              <a:t>- Tipos e posse (Rust): corridas de dados viram erro de compilação.</a:t>
            </a:r>
          </a:p>
          <a:p>
            <a:r>
              <a:t>- Paralelismo de dados (13.10: Fortran de Alto Desempenho, OpenMP, parallel streams do Java): o mesmo cálculo sobre partes diferentes de uma matriz.</a:t>
            </a:r>
          </a:p>
          <a:p>
            <a:r>
              <a:t>Mensagem final: a tendência é SUBIR o nível de abstração, trocando travas manuais por mensagens, async e verificação pelo compilador, como aconteceu com o goto e os ponteiros.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15 min para os três slides (10 para as duplas, 5 para a correção). Pode valer como atividade avaliativa em sala.</a:t>
            </a:r>
          </a:p>
          <a:p>
            <a:r>
              <a:t>Para cada trecho: (a) o que é impresso ou o que acontece? (b) qual é o problema e como corrigir?</a:t>
            </a:r>
          </a:p>
          <a:p/>
          <a:p>
            <a:r>
              <a:t>GABARITO:</a:t>
            </a:r>
          </a:p>
          <a:p>
            <a:r>
              <a:t>1) Java: um número MENOR que 200000, e diferente a cada execução (no OneCompiler, 118840). É uma condição de corrida: vendas++ é ler-somar-gravar. Correção: AtomicInteger, synchronized ou ReentrantLock (slide 12).</a:t>
            </a:r>
          </a:p>
          <a:p>
            <a:r>
              <a:t>2) Go: geralmente só "fim do main". Quando a função main termina, o programa inteiro termina, e as goroutines nem chegaram a executar. Às vezes aparece uma ou outra linha. Correção: sync.WaitGroup (ou um canal) para esperar as goroutines.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GABARITO:</a:t>
            </a:r>
          </a:p>
          <a:p>
            <a:r>
              <a:t>3) JavaScript: A, D, C, B. O código síncrono roda primeiro (A e D). Depois vêm as microtarefas (a promise, C), e só então as tarefas (o setTimeout, B), mesmo com o tempo 0 (slide 16).</a:t>
            </a:r>
          </a:p>
          <a:p>
            <a:r>
              <a:t>4) Java: IMPASSE. A primeira transferência trava a e espera b; a segunda trava b e espera a (espera circular). O programa de exemplo detecta "linhas de execução presas: 2", e os saldos continuam 100 e 100. Correção: travar sempre na mesma ordem (por exemplo, pelo número da conta) ou usar tryLock com tempo limite (slide 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GABARITO:</a:t>
            </a:r>
          </a:p>
          <a:p>
            <a:r>
              <a:t>5) Rust: NÃO COMPILA (erro E0373: o fechamento pode viver mais que a função, e ele pega contador emprestado). O compilador também aponta o E0502. Correção: move com Arc&lt;Mutex&lt;i32&gt;&gt;, ou usar um canal. É uma corrida de dados detectada na COMPILAÇÃO (slide 15).</a:t>
            </a:r>
          </a:p>
          <a:p>
            <a:r>
              <a:t>6) Go: "fatal error: all goroutines are asleep - deadlock!". O canal não tem buffer, então o envio ch &lt;- 1 espera um receptor que nunca chega, porque o receptor seria a própria main, na linha seguinte. O sistema de execução do Go detecta que TODAS as goroutines estão bloqueadas. Correção: canal com buffer (make(chan int, 1)) ou enviar em outra goroutine.</a:t>
            </a:r>
          </a:p>
          <a:p>
            <a:r>
              <a:t>Fechamento: classifique as 6 questões em "detectado na compilação" (5), "detectado em execução" (4 e 6) e "nunca detectado, só resultado errado" (1 e 2), e compare com as aulas anteriores.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~2 min.</a:t>
            </a:r>
          </a:p>
          <a:p>
            <a:r>
              <a:t>Mensagem final: os erros de concorrência são os mais caros de encontrar porque não se repetem. As ferramentas que sobem o nível de abstração (monitores, mensagens, atores, async, o sistema de tipos do Rust) existem para trocar "achar o erro depois" por "o erro não pode acontecer".</a:t>
            </a:r>
          </a:p>
          <a:p>
            <a:r>
              <a:t>Dica profissional: sempre que dois fluxos de execução acessarem o mesmo dado e pelo menos um deles ESCREVER, pergunte "o que protege esse dado?".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~1 min.</a:t>
            </a:r>
          </a:p>
          <a:p>
            <a:r>
              <a:t>Sugestão de entrega (pode compor a Atividade de Estudo Programada): o jantar dos filósofos (Dijkstra, 1965), o problema clássico de impasse. Com cinco filósofos e cinco garfos, cada um precisa de dois. Qual a solução mais simples com travas? E com canais?</a:t>
            </a:r>
          </a:p>
          <a:p>
            <a:r>
              <a:t>Destaques:</a:t>
            </a:r>
          </a:p>
          <a:p>
            <a:r>
              <a:t>- Ada: o select com guardas (when Qtd &lt; Tam =&gt; accept Depositar) junta tudo o que vimos: comandos protegidos (aula 7), tarefas e rendezvous. Rode tarefas.adb no OneCompiler.</a:t>
            </a:r>
          </a:p>
          <a:p>
            <a:r>
              <a:t>- Elixir e Erlang: cada ator é um processo leve com estado privado. Por isso sistemas como o WhatsApp atendem milhões de conexões por servidor.</a:t>
            </a:r>
          </a:p>
          <a:p>
            <a:r>
              <a:t>- Paralelo.java: rode três vezes. Os tempos variam com o aquecimento do JIT, e o contêiner do OneCompiler informa 1 núcleo. É uma boa lição sobre medir desempenho com cuidado.</a:t>
            </a:r>
          </a:p>
          <a:p>
            <a:r>
              <a:t>Próxima aula: Tratamento de exceções e de eventos (Cap. 14).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000" kern="1200" b="1">
          <a:solidFill>
            <a:srgbClr val="1F2937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59" y="1828800"/>
            <a:ext cx="10545775" cy="1280160"/>
          </a:xfrm>
        </p:spPr>
        <p:txBody>
          <a:bodyPr/>
          <a:lstStyle/>
          <a:p>
            <a:pPr algn="l"/>
            <a:r>
              <a:rPr sz="4800" b="1">
                <a:solidFill>
                  <a:srgbClr val="1F2937"/>
                </a:solidFill>
              </a:rPr>
              <a:t>Concorrência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2959" y="3246120"/>
            <a:ext cx="10545775" cy="2011680"/>
          </a:xfrm>
        </p:spPr>
        <p:txBody>
          <a:bodyPr/>
          <a:lstStyle/>
          <a:p>
            <a:pPr algn="l">
              <a:spcAft>
                <a:spcPts val="600"/>
              </a:spcAft>
            </a:pPr>
            <a:r>
              <a:rPr sz="2400">
                <a:solidFill>
                  <a:srgbClr val="1F2937"/>
                </a:solidFill>
              </a:rPr>
              <a:t>Aula 10 · Paradigmas de Linguagens de Programação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667085"/>
                </a:solidFill>
              </a:rPr>
              <a:t>Engenharia de Software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667085"/>
                </a:solidFill>
              </a:rPr>
              <a:t>Referência: Sebesta, Conceitos de Linguagens de Programação, 11ª ed., Cap. 13 (p. 541-594)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 e ligação com o mundo real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Sebesta, 11ª ed. · Cap. 13 · p. 541-594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52120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F766E"/>
                </a:solidFill>
              </a:rPr>
              <a:t>Objetivo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5212080" cy="2194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F2937"/>
                </a:solidFill>
              </a:rPr>
              <a:t>O objetivo desta aula é entender como as linguagens permitem executar </a:t>
            </a:r>
            <a:r>
              <a:rPr sz="2000" b="1">
                <a:solidFill>
                  <a:srgbClr val="1F2937"/>
                </a:solidFill>
              </a:rPr>
              <a:t>várias tarefas ao mesmo tempo com segurança</a:t>
            </a:r>
            <a:r>
              <a:rPr sz="2000" b="0">
                <a:solidFill>
                  <a:srgbClr val="1F2937"/>
                </a:solidFill>
              </a:rPr>
              <a:t>, e por que dados compartilhados sem sincronização geram erros que </a:t>
            </a:r>
            <a:r>
              <a:rPr sz="2000" b="1">
                <a:solidFill>
                  <a:srgbClr val="1F2937"/>
                </a:solidFill>
              </a:rPr>
              <a:t>só aparecem às vezes</a:t>
            </a:r>
            <a:r>
              <a:rPr sz="2000" b="0">
                <a:solidFill>
                  <a:srgbClr val="1F2937"/>
                </a:solidFill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79476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</a:rPr>
              <a:t>Para o engenheiro de software, isso significa: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06240"/>
            <a:ext cx="5212080" cy="1920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56032" indent="-219456">
              <a:spcAft>
                <a:spcPts val="600"/>
              </a:spcAft>
              <a:buClr>
                <a:srgbClr val="0F766E"/>
              </a:buClr>
              <a:buFont typeface="Arial"/>
              <a:buChar char="•"/>
            </a:pPr>
            <a:r>
              <a:rPr sz="1600" b="0">
                <a:solidFill>
                  <a:srgbClr val="1F2937"/>
                </a:solidFill>
              </a:rPr>
              <a:t>reconhecer condições de corrida e impasses no código</a:t>
            </a:r>
          </a:p>
          <a:p>
            <a:pPr algn="l" marL="256032" indent="-219456">
              <a:spcAft>
                <a:spcPts val="600"/>
              </a:spcAft>
              <a:buClr>
                <a:srgbClr val="0F766E"/>
              </a:buClr>
              <a:buFont typeface="Arial"/>
              <a:buChar char="•"/>
            </a:pPr>
            <a:r>
              <a:rPr sz="1600" b="0">
                <a:solidFill>
                  <a:srgbClr val="1F2937"/>
                </a:solidFill>
              </a:rPr>
              <a:t>escolher entre travas, mensagens e </a:t>
            </a:r>
            <a:r>
              <a:rPr sz="1472" b="0">
                <a:solidFill>
                  <a:srgbClr val="1F2937"/>
                </a:solidFill>
                <a:latin typeface="Consolas"/>
              </a:rPr>
              <a:t>async</a:t>
            </a:r>
          </a:p>
          <a:p>
            <a:pPr algn="l" marL="256032" indent="-219456">
              <a:spcAft>
                <a:spcPts val="600"/>
              </a:spcAft>
              <a:buClr>
                <a:srgbClr val="0F766E"/>
              </a:buClr>
              <a:buFont typeface="Arial"/>
              <a:buChar char="•"/>
            </a:pPr>
            <a:r>
              <a:rPr sz="1600" b="0">
                <a:solidFill>
                  <a:srgbClr val="1F2937"/>
                </a:solidFill>
              </a:rPr>
              <a:t>aproveitar processadores com vários núcleos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325880"/>
            <a:ext cx="5468112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B42318"/>
                </a:solidFill>
              </a:rPr>
              <a:t>Quando a concorrência falha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828800"/>
            <a:ext cx="5468112" cy="132588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</a:rPr>
              <a:t>1985-1987 · Therac-25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</a:rPr>
              <a:t>Uma condição de corrida no software de uma máquina de radioterapia causou superdosagens: ao menos 3 mortes.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291839"/>
            <a:ext cx="5468112" cy="132588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</a:rPr>
              <a:t>2003 · Apagão no nordeste dos EUA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</a:rPr>
              <a:t>Uma condição de corrida travou em silêncio o sistema de alarmes: cerca de 50 milhões de pessoas sem energia.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754879"/>
            <a:ext cx="5468112" cy="132588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</a:rPr>
              <a:t>1997 · Mars Pathfinder (NASA)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</a:rPr>
              <a:t>Inversão de prioridade em um mutex reiniciava o robô em Marte. A correção foi enviada da Terra.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Roteiro da aula (80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Planejamento do Encontro 5 · Sebesta Cap. 13</a:t>
            </a:r>
          </a:p>
        </p:txBody>
      </p:sp>
      <p:sp>
        <p:nvSpPr>
          <p:cNvPr id="4" name="Oval 3"/>
          <p:cNvSpPr/>
          <p:nvPr/>
        </p:nvSpPr>
        <p:spPr>
          <a:xfrm>
            <a:off x="1012926" y="1828800"/>
            <a:ext cx="768096" cy="7680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834640"/>
            <a:ext cx="1696669" cy="164592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>
            <a:noAutofit/>
          </a:bodyPr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0F766E"/>
                </a:solidFill>
              </a:rPr>
              <a:t>0-15 min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</a:rPr>
              <a:t>Conceitos: tarefas, sincronização, corrida, impasse</a:t>
            </a:r>
          </a:p>
        </p:txBody>
      </p:sp>
      <p:sp>
        <p:nvSpPr>
          <p:cNvPr id="6" name="Oval 5"/>
          <p:cNvSpPr/>
          <p:nvPr/>
        </p:nvSpPr>
        <p:spPr>
          <a:xfrm>
            <a:off x="2892475" y="1828800"/>
            <a:ext cx="768096" cy="7680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28189" y="2834640"/>
            <a:ext cx="1696669" cy="164592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>
            <a:noAutofit/>
          </a:bodyPr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0F766E"/>
                </a:solidFill>
              </a:rPr>
              <a:t>15-30 min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</a:rPr>
              <a:t>Semáforos e monitores (Java)</a:t>
            </a:r>
          </a:p>
        </p:txBody>
      </p:sp>
      <p:sp>
        <p:nvSpPr>
          <p:cNvPr id="8" name="Oval 7"/>
          <p:cNvSpPr/>
          <p:nvPr/>
        </p:nvSpPr>
        <p:spPr>
          <a:xfrm>
            <a:off x="4772025" y="1828800"/>
            <a:ext cx="768096" cy="7680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7738" y="2834640"/>
            <a:ext cx="1696669" cy="164592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>
            <a:noAutofit/>
          </a:bodyPr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0F766E"/>
                </a:solidFill>
              </a:rPr>
              <a:t>30-45 min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</a:rPr>
              <a:t>Passagem de mensagens: Go e Rust</a:t>
            </a:r>
          </a:p>
        </p:txBody>
      </p:sp>
      <p:sp>
        <p:nvSpPr>
          <p:cNvPr id="10" name="Oval 9"/>
          <p:cNvSpPr/>
          <p:nvPr/>
        </p:nvSpPr>
        <p:spPr>
          <a:xfrm>
            <a:off x="6651574" y="1828800"/>
            <a:ext cx="768096" cy="7680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7287" y="2834640"/>
            <a:ext cx="1696669" cy="164592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>
            <a:noAutofit/>
          </a:bodyPr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0F766E"/>
                </a:solidFill>
              </a:rPr>
              <a:t>45-55 min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</a:rPr>
              <a:t>Laço de eventos e async; modelos atuais</a:t>
            </a:r>
          </a:p>
        </p:txBody>
      </p:sp>
      <p:sp>
        <p:nvSpPr>
          <p:cNvPr id="12" name="Oval 11"/>
          <p:cNvSpPr/>
          <p:nvPr/>
        </p:nvSpPr>
        <p:spPr>
          <a:xfrm>
            <a:off x="8531123" y="1828800"/>
            <a:ext cx="768096" cy="7680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6836" y="2834640"/>
            <a:ext cx="1696669" cy="164592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>
            <a:noAutofit/>
          </a:bodyPr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0F766E"/>
                </a:solidFill>
              </a:rPr>
              <a:t>55-65 min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</a:rPr>
              <a:t>Síntese dos modelos</a:t>
            </a:r>
          </a:p>
        </p:txBody>
      </p:sp>
      <p:sp>
        <p:nvSpPr>
          <p:cNvPr id="14" name="Oval 13"/>
          <p:cNvSpPr/>
          <p:nvPr/>
        </p:nvSpPr>
        <p:spPr>
          <a:xfrm>
            <a:off x="10410672" y="1828800"/>
            <a:ext cx="768096" cy="7680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46386" y="2834640"/>
            <a:ext cx="1696669" cy="164592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>
            <a:noAutofit/>
          </a:bodyPr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0F766E"/>
                </a:solidFill>
              </a:rPr>
              <a:t>65-80 min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</a:rPr>
              <a:t>Exercício: o que acontece?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846320"/>
            <a:ext cx="11094415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</a:rPr>
              <a:t>Tipo de aula:</a:t>
            </a:r>
            <a:r>
              <a:rPr sz="1700" b="0">
                <a:solidFill>
                  <a:srgbClr val="1F2937"/>
                </a:solidFill>
              </a:rPr>
              <a:t> expositiva com demonstrações ao vivo. Rode os exemplos mais de uma vez: a saída muda!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</a:rPr>
              <a:t>Exemplos:</a:t>
            </a:r>
            <a:r>
              <a:rPr sz="1700" b="0">
                <a:solidFill>
                  <a:srgbClr val="1F2937"/>
                </a:solidFill>
              </a:rPr>
              <a:t> pasta </a:t>
            </a:r>
            <a:r>
              <a:rPr sz="1564" b="0">
                <a:solidFill>
                  <a:srgbClr val="1F2937"/>
                </a:solidFill>
                <a:latin typeface="Consolas"/>
              </a:rPr>
              <a:t>exemplos/</a:t>
            </a:r>
            <a:r>
              <a:rPr sz="1700" b="0">
                <a:solidFill>
                  <a:srgbClr val="1F2937"/>
                </a:solidFill>
              </a:rPr>
              <a:t>, na ordem dos slides. Todos rodam no navegador em </a:t>
            </a:r>
            <a:r>
              <a:rPr sz="1700" b="1">
                <a:solidFill>
                  <a:srgbClr val="1F2937"/>
                </a:solidFill>
              </a:rPr>
              <a:t>onecompiler.com</a:t>
            </a:r>
            <a:r>
              <a:rPr sz="1700" b="0">
                <a:solidFill>
                  <a:srgbClr val="1F2937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 que concorrência?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Sebesta, 11ª ed. · §13.1 · p. 542-547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5394960" cy="2011680"/>
          </a:xfrm>
          <a:prstGeom prst="roundRect">
            <a:avLst>
              <a:gd name="adj" fmla="val 7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>
            <a:no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0F766E"/>
                </a:solidFill>
              </a:rPr>
              <a:t>Concorrência física (p. 545)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</a:rPr>
              <a:t>Vários processadores executam unidades do programa </a:t>
            </a:r>
            <a:r>
              <a:rPr sz="1600" b="1">
                <a:solidFill>
                  <a:srgbClr val="1F2937"/>
                </a:solidFill>
              </a:rPr>
              <a:t>ao mesmo tempo</a:t>
            </a:r>
            <a:r>
              <a:rPr sz="1600" b="0">
                <a:solidFill>
                  <a:srgbClr val="1F2937"/>
                </a:solidFill>
              </a:rPr>
              <a:t> (paralelismo).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520440"/>
            <a:ext cx="5394960" cy="201168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>
            <a:no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0F766E"/>
                </a:solidFill>
              </a:rPr>
              <a:t>Concorrência lógica (p. 546)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</a:rPr>
              <a:t>Um processador </a:t>
            </a:r>
            <a:r>
              <a:rPr sz="1600" b="1">
                <a:solidFill>
                  <a:srgbClr val="1F2937"/>
                </a:solidFill>
              </a:rPr>
              <a:t>intercala</a:t>
            </a:r>
            <a:r>
              <a:rPr sz="1600" b="0">
                <a:solidFill>
                  <a:srgbClr val="1F2937"/>
                </a:solidFill>
              </a:rPr>
              <a:t> as tarefas em fatias de tempo. Para quem programa, os problemas são os mesmos.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325880"/>
            <a:ext cx="5376672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2937"/>
                </a:solidFill>
              </a:rPr>
              <a:t>Quatro motivações (p. 546-547)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783080"/>
            <a:ext cx="5376672" cy="3017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56032" indent="-219456">
              <a:spcAft>
                <a:spcPts val="1000"/>
              </a:spcAft>
              <a:buClr>
                <a:srgbClr val="0F766E"/>
              </a:buClr>
              <a:buFont typeface="Arial"/>
              <a:buChar char="•"/>
            </a:pPr>
            <a:r>
              <a:rPr sz="1700" b="1">
                <a:solidFill>
                  <a:srgbClr val="1F2937"/>
                </a:solidFill>
              </a:rPr>
              <a:t>Velocidade</a:t>
            </a:r>
            <a:r>
              <a:rPr sz="1700" b="0">
                <a:solidFill>
                  <a:srgbClr val="1F2937"/>
                </a:solidFill>
              </a:rPr>
              <a:t> em máquinas com vários núcleos</a:t>
            </a:r>
          </a:p>
          <a:p>
            <a:pPr algn="l" marL="256032" indent="-219456">
              <a:spcAft>
                <a:spcPts val="1000"/>
              </a:spcAft>
              <a:buClr>
                <a:srgbClr val="0F766E"/>
              </a:buClr>
              <a:buFont typeface="Arial"/>
              <a:buChar char="•"/>
            </a:pPr>
            <a:r>
              <a:rPr sz="1700" b="0">
                <a:solidFill>
                  <a:srgbClr val="1F2937"/>
                </a:solidFill>
              </a:rPr>
              <a:t>Não parar tudo enquanto se espera </a:t>
            </a:r>
            <a:r>
              <a:rPr sz="1700" b="1">
                <a:solidFill>
                  <a:srgbClr val="1F2937"/>
                </a:solidFill>
              </a:rPr>
              <a:t>E/S</a:t>
            </a:r>
            <a:r>
              <a:rPr sz="1700" b="0">
                <a:solidFill>
                  <a:srgbClr val="1F2937"/>
                </a:solidFill>
              </a:rPr>
              <a:t> (mesmo com 1 núcleo)</a:t>
            </a:r>
          </a:p>
          <a:p>
            <a:pPr algn="l" marL="256032" indent="-219456">
              <a:spcAft>
                <a:spcPts val="1000"/>
              </a:spcAft>
              <a:buClr>
                <a:srgbClr val="0F766E"/>
              </a:buClr>
              <a:buFont typeface="Arial"/>
              <a:buChar char="•"/>
            </a:pPr>
            <a:r>
              <a:rPr sz="1700" b="0">
                <a:solidFill>
                  <a:srgbClr val="1F2937"/>
                </a:solidFill>
              </a:rPr>
              <a:t>Problemas </a:t>
            </a:r>
            <a:r>
              <a:rPr sz="1700" b="1">
                <a:solidFill>
                  <a:srgbClr val="1F2937"/>
                </a:solidFill>
              </a:rPr>
              <a:t>naturalmente concorrentes</a:t>
            </a:r>
            <a:r>
              <a:rPr sz="1700" b="0">
                <a:solidFill>
                  <a:srgbClr val="1F2937"/>
                </a:solidFill>
              </a:rPr>
              <a:t>: simulações, servidores</a:t>
            </a:r>
          </a:p>
          <a:p>
            <a:pPr algn="l" marL="256032" indent="-219456">
              <a:spcAft>
                <a:spcPts val="1000"/>
              </a:spcAft>
              <a:buClr>
                <a:srgbClr val="0F766E"/>
              </a:buClr>
              <a:buFont typeface="Arial"/>
              <a:buChar char="•"/>
            </a:pPr>
            <a:r>
              <a:rPr sz="1700" b="0">
                <a:solidFill>
                  <a:srgbClr val="1F2937"/>
                </a:solidFill>
              </a:rPr>
              <a:t>Aplicações </a:t>
            </a:r>
            <a:r>
              <a:rPr sz="1700" b="1">
                <a:solidFill>
                  <a:srgbClr val="1F2937"/>
                </a:solidFill>
              </a:rPr>
              <a:t>distribuídas</a:t>
            </a:r>
            <a:r>
              <a:rPr sz="1700" b="0">
                <a:solidFill>
                  <a:srgbClr val="1F2937"/>
                </a:solidFill>
              </a:rPr>
              <a:t> em várias máquinas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4846320"/>
            <a:ext cx="5376672" cy="1234440"/>
          </a:xfrm>
          <a:prstGeom prst="roundRect">
            <a:avLst>
              <a:gd name="adj" fmla="val 7000"/>
            </a:avLst>
          </a:prstGeom>
          <a:solidFill>
            <a:srgbClr val="FEF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</a:rPr>
              <a:t>A frequência dos processadores parou de subir: o ganho agora vem de </a:t>
            </a:r>
            <a:r>
              <a:rPr sz="1600" b="1">
                <a:solidFill>
                  <a:srgbClr val="1F2937"/>
                </a:solidFill>
              </a:rPr>
              <a:t>mais núcleos</a:t>
            </a:r>
            <a:r>
              <a:rPr sz="1600" b="0">
                <a:solidFill>
                  <a:srgbClr val="1F2937"/>
                </a:solidFill>
              </a:rPr>
              <a:t> (p. 545).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Tarefas e os dois tipos de sincronização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Sebesta, 11ª ed. · §13.2.1 · p. 547-549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11094415" cy="128016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>
            <a:no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F2937"/>
                </a:solidFill>
              </a:rPr>
              <a:t>Tarefa (p. 547): unidade que pode executar </a:t>
            </a:r>
            <a:r>
              <a:rPr sz="1700" b="1">
                <a:solidFill>
                  <a:srgbClr val="1F2937"/>
                </a:solidFill>
              </a:rPr>
              <a:t>concorrentemente</a:t>
            </a:r>
            <a:r>
              <a:rPr sz="1700" b="0">
                <a:solidFill>
                  <a:srgbClr val="1F2937"/>
                </a:solidFill>
              </a:rPr>
              <a:t>. Diferente de um subprograma, quem a inicia </a:t>
            </a:r>
            <a:r>
              <a:rPr sz="1700" b="1">
                <a:solidFill>
                  <a:srgbClr val="1F2937"/>
                </a:solidFill>
              </a:rPr>
              <a:t>não precisa esperar</a:t>
            </a:r>
            <a:r>
              <a:rPr sz="1700" b="0">
                <a:solidFill>
                  <a:srgbClr val="1F2937"/>
                </a:solidFill>
              </a:rPr>
              <a:t> que ela termine.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</a:rPr>
              <a:t>Pesada</a:t>
            </a:r>
            <a:r>
              <a:rPr sz="1600" b="0">
                <a:solidFill>
                  <a:srgbClr val="1F2937"/>
                </a:solidFill>
              </a:rPr>
              <a:t> (processo): memória própria.   </a:t>
            </a:r>
            <a:r>
              <a:rPr sz="1600" b="1">
                <a:solidFill>
                  <a:srgbClr val="1F2937"/>
                </a:solidFill>
              </a:rPr>
              <a:t>Leve</a:t>
            </a:r>
            <a:r>
              <a:rPr sz="1600" b="0">
                <a:solidFill>
                  <a:srgbClr val="1F2937"/>
                </a:solidFill>
              </a:rPr>
              <a:t> (thread): memória compartilhada, mais barata e mais perigosa.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880360"/>
            <a:ext cx="5394960" cy="3200400"/>
          </a:xfrm>
          <a:prstGeom prst="roundRect">
            <a:avLst>
              <a:gd name="adj" fmla="val 7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>
            <a:no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F766E"/>
                </a:solidFill>
              </a:rPr>
              <a:t>Sincronização de COOPERAÇÃO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</a:rPr>
              <a:t>A espera B terminar algo específico.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</a:rPr>
              <a:t>Produtor-consumidor (p. 548): não se retira de um buffer vazio nem se deposita num buffer cheio.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5352" y="2880360"/>
            <a:ext cx="5394960" cy="3200400"/>
          </a:xfrm>
          <a:prstGeom prst="roundRect">
            <a:avLst>
              <a:gd name="adj" fmla="val 7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>
            <a:no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B42318"/>
                </a:solidFill>
              </a:rPr>
              <a:t>Sincronização de COMPETIÇÃO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</a:rPr>
              <a:t>A e B querem o mesmo recurso ao mesmo tempo.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</a:rPr>
              <a:t>Exige </a:t>
            </a:r>
            <a:r>
              <a:rPr sz="1600" b="1">
                <a:solidFill>
                  <a:srgbClr val="1F2937"/>
                </a:solidFill>
              </a:rPr>
              <a:t>exclusão mútua</a:t>
            </a:r>
            <a:r>
              <a:rPr sz="1600" b="0">
                <a:solidFill>
                  <a:srgbClr val="1F2937"/>
                </a:solidFill>
              </a:rPr>
              <a:t>: semáforos, monitores ou passagem de mensagens (p. 549).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Condição de corrida: o exemplo do livro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Sebesta, 11ª ed. · §13.2.1 · p. 548 · Figura 13.1 · exemplos/01_corrida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5852160" cy="2514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51760"/>
                <a:gridCol w="320040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F2937"/>
                          </a:solidFill>
                        </a:rPr>
                        <a:t>Ordem dos passos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F2937"/>
                          </a:solidFill>
                        </a:rPr>
                        <a:t>TOTAL (começa em 3)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E6F4F1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 inteira, depois B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67647"/>
                          </a:solidFill>
                        </a:rPr>
                        <a:t>8</a:t>
                      </a:r>
                      <a:r>
                        <a:rPr sz="1500" b="0">
                          <a:solidFill>
                            <a:srgbClr val="067647"/>
                          </a:solidFill>
                        </a:rPr>
                        <a:t> (o correto)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 inteira, depois A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7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as duas leem 3; A grava por último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B42318"/>
                          </a:solidFill>
                        </a:rPr>
                        <a:t>6 (Figura 13.1)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as duas leem 3; B grava por último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B42318"/>
                          </a:solidFill>
                        </a:rPr>
                        <a:t>4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4160520"/>
            <a:ext cx="5852160" cy="1920240"/>
          </a:xfrm>
          <a:prstGeom prst="roundRect">
            <a:avLst>
              <a:gd name="adj" fmla="val 7000"/>
            </a:avLst>
          </a:prstGeom>
          <a:solidFill>
            <a:srgbClr val="FEF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</a:rPr>
              <a:t>Das 20 intercalações possíveis (corrida_total.py):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onsolas"/>
              </a:rPr>
              <a:t>4: 9 vezes · 6: 9 vezes · 7: 1 vez · </a:t>
            </a:r>
            <a:r>
              <a:rPr sz="1500" b="1">
                <a:solidFill>
                  <a:srgbClr val="1F2937"/>
                </a:solidFill>
                <a:latin typeface="Consolas"/>
              </a:rPr>
              <a:t>8: 1 vez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</a:rPr>
              <a:t>Sem sincronização, o resultado certo é o </a:t>
            </a:r>
            <a:r>
              <a:rPr sz="1600" b="1">
                <a:solidFill>
                  <a:srgbClr val="1F2937"/>
                </a:solidFill>
              </a:rPr>
              <a:t>menos</a:t>
            </a:r>
            <a:r>
              <a:rPr sz="1600" b="0">
                <a:solidFill>
                  <a:srgbClr val="1F2937"/>
                </a:solidFill>
              </a:rPr>
              <a:t> provável.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1325880"/>
            <a:ext cx="4965192" cy="310896"/>
          </a:xfrm>
          <a:prstGeom prst="rect">
            <a:avLst/>
          </a:prstGeom>
          <a:noFill/>
        </p:spPr>
        <p:txBody>
          <a:bodyPr wrap="square" anchor="b" lIns="18288" rIns="18288" tIns="18288" bIns="18288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</a:rPr>
              <a:t>Java · Corrida.java</a:t>
            </a:r>
          </a:p>
        </p:txBody>
      </p:sp>
      <p:sp>
        <p:nvSpPr>
          <p:cNvPr id="7" name="Rectangle 6"/>
          <p:cNvSpPr/>
          <p:nvPr/>
        </p:nvSpPr>
        <p:spPr>
          <a:xfrm>
            <a:off x="6675120" y="1673352"/>
            <a:ext cx="4965192" cy="2670048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static int contador = 0;</a:t>
            </a:r>
          </a:p>
          <a:p>
            <a:pPr algn="l">
              <a:spcAft>
                <a:spcPts val="0"/>
              </a:spcAft>
            </a:pPr>
            <a:r>
              <a:rPr sz="1500"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Runnable r = () -&gt; {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 for (int i = 0; i &lt; 1_000_000; i++)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     contador++;   </a:t>
            </a:r>
            <a:r>
              <a:rPr sz="1500" i="0">
                <a:solidFill>
                  <a:srgbClr val="0F766E"/>
                </a:solidFill>
                <a:latin typeface="Consolas"/>
              </a:rPr>
              <a:t>// ler, somar, gravar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};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0F766E"/>
                </a:solidFill>
                <a:latin typeface="Consolas"/>
              </a:rPr>
              <a:t>// duas threads executando 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4572000"/>
            <a:ext cx="4965192" cy="1508760"/>
          </a:xfrm>
          <a:prstGeom prst="roundRect">
            <a:avLst>
              <a:gd name="adj" fmla="val 7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>
            <a:no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1F2937"/>
                </a:solidFill>
                <a:latin typeface="Consolas"/>
              </a:rPr>
              <a:t>esperado: 2000000</a:t>
            </a:r>
          </a:p>
          <a:p>
            <a:pPr algn="l">
              <a:spcAft>
                <a:spcPts val="300"/>
              </a:spcAft>
            </a:pPr>
            <a:r>
              <a:rPr sz="1800" b="1">
                <a:solidFill>
                  <a:srgbClr val="B42318"/>
                </a:solidFill>
                <a:latin typeface="Consolas"/>
              </a:rPr>
              <a:t>obtido:   1011017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</a:rPr>
              <a:t>(OneCompiler; muda a cada execução)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Estados de uma tarefa, escalonador e vivacidade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Sebesta, 11ª ed. · §13.2.1 · p. 549-551 · Figura 13.2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743200"/>
            <a:ext cx="1783080" cy="73152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</a:rPr>
              <a:t>Nova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0" y="2743200"/>
            <a:ext cx="1783080" cy="73152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</a:rPr>
              <a:t>Pronta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29400" y="2743200"/>
            <a:ext cx="2103120" cy="731520"/>
          </a:xfrm>
          <a:prstGeom prst="roundRect">
            <a:avLst>
              <a:gd name="adj" fmla="val 7000"/>
            </a:avLst>
          </a:prstGeom>
          <a:solidFill>
            <a:srgbClr val="E6F4F1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</a:rPr>
              <a:t>Executando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29800" y="2743200"/>
            <a:ext cx="1783080" cy="73152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</a:rPr>
              <a:t>Morta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4709159"/>
            <a:ext cx="1783080" cy="73152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</a:rPr>
              <a:t>Bloqueada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51760" y="3108960"/>
            <a:ext cx="868680" cy="0"/>
          </a:xfrm>
          <a:prstGeom prst="line">
            <a:avLst/>
          </a:prstGeom>
          <a:ln w="25400">
            <a:solidFill>
              <a:srgbClr val="0F76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394960" y="2971800"/>
            <a:ext cx="1188720" cy="0"/>
          </a:xfrm>
          <a:prstGeom prst="line">
            <a:avLst/>
          </a:prstGeom>
          <a:ln w="25400">
            <a:solidFill>
              <a:srgbClr val="0F76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5394960" y="3291840"/>
            <a:ext cx="1188720" cy="0"/>
          </a:xfrm>
          <a:prstGeom prst="line">
            <a:avLst/>
          </a:prstGeom>
          <a:ln w="25400">
            <a:solidFill>
              <a:srgbClr val="6670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778240" y="3108960"/>
            <a:ext cx="1005840" cy="0"/>
          </a:xfrm>
          <a:prstGeom prst="line">
            <a:avLst/>
          </a:prstGeom>
          <a:ln w="25400">
            <a:solidFill>
              <a:srgbClr val="0F76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406640" y="3520440"/>
            <a:ext cx="0" cy="1143000"/>
          </a:xfrm>
          <a:prstGeom prst="line">
            <a:avLst/>
          </a:prstGeom>
          <a:ln w="25400">
            <a:solidFill>
              <a:srgbClr val="B4231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4480560" y="3520440"/>
            <a:ext cx="2103120" cy="1554480"/>
          </a:xfrm>
          <a:prstGeom prst="line">
            <a:avLst/>
          </a:prstGeom>
          <a:ln w="25400">
            <a:solidFill>
              <a:srgbClr val="6670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257800" y="2148840"/>
            <a:ext cx="146304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</a:rPr>
              <a:t>escalonada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3383280"/>
            <a:ext cx="146304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</a:rPr>
              <a:t>fim da fatia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3886200"/>
            <a:ext cx="15544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</a:rPr>
              <a:t>pede E/S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4434840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</a:rPr>
              <a:t>E/S concluída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2423160"/>
            <a:ext cx="10972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667085"/>
                </a:solidFill>
              </a:rPr>
              <a:t>concluída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32588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</a:rPr>
              <a:t>O </a:t>
            </a:r>
            <a:r>
              <a:rPr sz="1600" b="1">
                <a:solidFill>
                  <a:srgbClr val="1F2937"/>
                </a:solidFill>
              </a:rPr>
              <a:t>escalonador</a:t>
            </a:r>
            <a:r>
              <a:rPr sz="1600" b="0">
                <a:solidFill>
                  <a:srgbClr val="1F2937"/>
                </a:solidFill>
              </a:rPr>
              <a:t> (p. 549) decide qual tarefa pronta ocupa cada processador. </a:t>
            </a:r>
            <a:r>
              <a:rPr sz="1600" b="1">
                <a:solidFill>
                  <a:srgbClr val="1F2937"/>
                </a:solidFill>
              </a:rPr>
              <a:t>Vivacidade</a:t>
            </a:r>
            <a:r>
              <a:rPr sz="1600" b="0">
                <a:solidFill>
                  <a:srgbClr val="1F2937"/>
                </a:solidFill>
              </a:rPr>
              <a:t> (p. 551): a garantia de que o programa continua progredindo.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Impasse (deadlock)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Sebesta, 11ª ed. · §13.2.1 · p. 551 · exemplos/02_impasse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828800"/>
            <a:ext cx="1645920" cy="82296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</a:rPr>
              <a:t>Tarefa A</a:t>
            </a:r>
          </a:p>
        </p:txBody>
      </p:sp>
      <p:sp>
        <p:nvSpPr>
          <p:cNvPr id="5" name="Rectangle 4"/>
          <p:cNvSpPr/>
          <p:nvPr/>
        </p:nvSpPr>
        <p:spPr>
          <a:xfrm>
            <a:off x="4023360" y="1828800"/>
            <a:ext cx="1645920" cy="822960"/>
          </a:xfrm>
          <a:prstGeom prst="rect">
            <a:avLst/>
          </a:prstGeom>
          <a:solidFill>
            <a:srgbClr val="E6F4F1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400"/>
              </a:spcAft>
            </a:pPr>
            <a:r>
              <a:rPr sz="1700" b="0">
                <a:solidFill>
                  <a:srgbClr val="1F2937"/>
                </a:solidFill>
                <a:latin typeface="Consolas"/>
              </a:rPr>
              <a:t>recurso 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0" y="4206240"/>
            <a:ext cx="1645920" cy="82296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</a:rPr>
              <a:t>Tarefa B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4206240"/>
            <a:ext cx="1645920" cy="822960"/>
          </a:xfrm>
          <a:prstGeom prst="rect">
            <a:avLst/>
          </a:prstGeom>
          <a:solidFill>
            <a:srgbClr val="E6F4F1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400"/>
              </a:spcAft>
            </a:pPr>
            <a:r>
              <a:rPr sz="1700" b="0">
                <a:solidFill>
                  <a:srgbClr val="1F2937"/>
                </a:solidFill>
                <a:latin typeface="Consolas"/>
              </a:rPr>
              <a:t>recurso Y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2788920" y="2240280"/>
            <a:ext cx="1188719" cy="0"/>
          </a:xfrm>
          <a:prstGeom prst="line">
            <a:avLst/>
          </a:prstGeom>
          <a:ln w="25400">
            <a:solidFill>
              <a:srgbClr val="06764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4846320" y="2697480"/>
            <a:ext cx="0" cy="1463040"/>
          </a:xfrm>
          <a:prstGeom prst="line">
            <a:avLst/>
          </a:prstGeom>
          <a:ln w="25400">
            <a:solidFill>
              <a:srgbClr val="B4231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788920" y="4617720"/>
            <a:ext cx="1188719" cy="0"/>
          </a:xfrm>
          <a:prstGeom prst="line">
            <a:avLst/>
          </a:prstGeom>
          <a:ln w="25400">
            <a:solidFill>
              <a:srgbClr val="06764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920240" y="2697480"/>
            <a:ext cx="0" cy="1463040"/>
          </a:xfrm>
          <a:prstGeom prst="line">
            <a:avLst/>
          </a:prstGeom>
          <a:ln w="25400">
            <a:solidFill>
              <a:srgbClr val="B4231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3154680"/>
            <a:ext cx="13258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B42318"/>
                </a:solidFill>
              </a:rPr>
              <a:t>A quer 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3154680"/>
            <a:ext cx="13258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B42318"/>
                </a:solidFill>
              </a:rPr>
              <a:t>B quer 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417320"/>
            <a:ext cx="146304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067647"/>
                </a:solidFill>
              </a:rPr>
              <a:t>A tem 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5029200"/>
            <a:ext cx="146304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067647"/>
                </a:solidFill>
              </a:rPr>
              <a:t>B tem 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325880"/>
            <a:ext cx="5148072" cy="310896"/>
          </a:xfrm>
          <a:prstGeom prst="rect">
            <a:avLst/>
          </a:prstGeom>
          <a:noFill/>
        </p:spPr>
        <p:txBody>
          <a:bodyPr wrap="square" anchor="b" lIns="18288" rIns="18288" tIns="18288" bIns="18288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</a:rPr>
              <a:t>Java · Impasse.java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1673352"/>
            <a:ext cx="5148072" cy="2578608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Thread a = new Thread(() -&gt; {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 synchronized (X) { pausa();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     synchronized (Y) { ... } }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});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Thread b = new Thread(() -&gt; {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 synchronized (Y) { pausa();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     synchronized (X) { ... } }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});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4434840"/>
            <a:ext cx="5148072" cy="1645920"/>
          </a:xfrm>
          <a:prstGeom prst="roundRect">
            <a:avLst>
              <a:gd name="adj" fmla="val 7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>
            <a:no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B42318"/>
                </a:solidFill>
                <a:latin typeface="Consolas"/>
              </a:rPr>
              <a:t>IMPASSE: 2 linhas de execução presas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</a:rPr>
              <a:t>Solução comum: adquirir as travas </a:t>
            </a:r>
            <a:r>
              <a:rPr sz="1500" b="1">
                <a:solidFill>
                  <a:srgbClr val="1F2937"/>
                </a:solidFill>
              </a:rPr>
              <a:t>sempre na mesma ordem</a:t>
            </a:r>
            <a:r>
              <a:rPr sz="1500" b="0">
                <a:solidFill>
                  <a:srgbClr val="1F2937"/>
                </a:solidFill>
              </a:rPr>
              <a:t> (quebra a espera circular).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Questões de projeto e os três mecanismos clássicos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Sebesta, 11ª ed. · §13.2.2-13.2.3 · p. 551-552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2937"/>
                </a:solidFill>
              </a:rPr>
              <a:t>Questões de projeto (p. 551-552)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4480560" cy="4297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56032" indent="-219456">
              <a:spcAft>
                <a:spcPts val="1200"/>
              </a:spcAft>
              <a:buClr>
                <a:srgbClr val="0F766E"/>
              </a:buClr>
              <a:buFont typeface="Arial"/>
              <a:buChar char="•"/>
            </a:pPr>
            <a:r>
              <a:rPr sz="1700" b="0">
                <a:solidFill>
                  <a:srgbClr val="1F2937"/>
                </a:solidFill>
              </a:rPr>
              <a:t>Como fornecer a sincronização de </a:t>
            </a:r>
            <a:r>
              <a:rPr sz="1700" b="1">
                <a:solidFill>
                  <a:srgbClr val="1F2937"/>
                </a:solidFill>
              </a:rPr>
              <a:t>cooperação</a:t>
            </a:r>
            <a:r>
              <a:rPr sz="1700" b="0">
                <a:solidFill>
                  <a:srgbClr val="1F2937"/>
                </a:solidFill>
              </a:rPr>
              <a:t>?</a:t>
            </a:r>
          </a:p>
          <a:p>
            <a:pPr algn="l" marL="256032" indent="-219456">
              <a:spcAft>
                <a:spcPts val="1200"/>
              </a:spcAft>
              <a:buClr>
                <a:srgbClr val="0F766E"/>
              </a:buClr>
              <a:buFont typeface="Arial"/>
              <a:buChar char="•"/>
            </a:pPr>
            <a:r>
              <a:rPr sz="1700" b="0">
                <a:solidFill>
                  <a:srgbClr val="1F2937"/>
                </a:solidFill>
              </a:rPr>
              <a:t>E a de </a:t>
            </a:r>
            <a:r>
              <a:rPr sz="1700" b="1">
                <a:solidFill>
                  <a:srgbClr val="1F2937"/>
                </a:solidFill>
              </a:rPr>
              <a:t>competição</a:t>
            </a:r>
            <a:r>
              <a:rPr sz="1700" b="0">
                <a:solidFill>
                  <a:srgbClr val="1F2937"/>
                </a:solidFill>
              </a:rPr>
              <a:t>?</a:t>
            </a:r>
          </a:p>
          <a:p>
            <a:pPr algn="l" marL="256032" indent="-219456">
              <a:spcAft>
                <a:spcPts val="1200"/>
              </a:spcAft>
              <a:buClr>
                <a:srgbClr val="0F766E"/>
              </a:buClr>
              <a:buFont typeface="Arial"/>
              <a:buChar char="•"/>
            </a:pPr>
            <a:r>
              <a:rPr sz="1700" b="0">
                <a:solidFill>
                  <a:srgbClr val="1F2937"/>
                </a:solidFill>
              </a:rPr>
              <a:t>Como e quando as tarefas </a:t>
            </a:r>
            <a:r>
              <a:rPr sz="1700" b="1">
                <a:solidFill>
                  <a:srgbClr val="1F2937"/>
                </a:solidFill>
              </a:rPr>
              <a:t>começam</a:t>
            </a:r>
            <a:r>
              <a:rPr sz="1700" b="0">
                <a:solidFill>
                  <a:srgbClr val="1F2937"/>
                </a:solidFill>
              </a:rPr>
              <a:t> e </a:t>
            </a:r>
            <a:r>
              <a:rPr sz="1700" b="1">
                <a:solidFill>
                  <a:srgbClr val="1F2937"/>
                </a:solidFill>
              </a:rPr>
              <a:t>terminam</a:t>
            </a:r>
            <a:r>
              <a:rPr sz="1700" b="0">
                <a:solidFill>
                  <a:srgbClr val="1F2937"/>
                </a:solidFill>
              </a:rPr>
              <a:t>?</a:t>
            </a:r>
          </a:p>
          <a:p>
            <a:pPr algn="l" marL="256032" indent="-219456">
              <a:spcAft>
                <a:spcPts val="1200"/>
              </a:spcAft>
              <a:buClr>
                <a:srgbClr val="0F766E"/>
              </a:buClr>
              <a:buFont typeface="Arial"/>
              <a:buChar char="•"/>
            </a:pPr>
            <a:r>
              <a:rPr sz="1700" b="0">
                <a:solidFill>
                  <a:srgbClr val="1F2937"/>
                </a:solidFill>
              </a:rPr>
              <a:t>As tarefas são criadas </a:t>
            </a:r>
            <a:r>
              <a:rPr sz="1700" b="1">
                <a:solidFill>
                  <a:srgbClr val="1F2937"/>
                </a:solidFill>
              </a:rPr>
              <a:t>estática</a:t>
            </a:r>
            <a:r>
              <a:rPr sz="1700" b="0">
                <a:solidFill>
                  <a:srgbClr val="1F2937"/>
                </a:solidFill>
              </a:rPr>
              <a:t> ou </a:t>
            </a:r>
            <a:r>
              <a:rPr sz="1700" b="1">
                <a:solidFill>
                  <a:srgbClr val="1F2937"/>
                </a:solidFill>
              </a:rPr>
              <a:t>dinamicamente</a:t>
            </a:r>
            <a:r>
              <a:rPr sz="1700" b="0">
                <a:solidFill>
                  <a:srgbClr val="1F2937"/>
                </a:solidFill>
              </a:rPr>
              <a:t>?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03520" y="1325880"/>
          <a:ext cx="6336792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148840"/>
                <a:gridCol w="1920240"/>
                <a:gridCol w="2267712"/>
              </a:tblGrid>
              <a:tr h="9144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F2937"/>
                          </a:solidFill>
                        </a:rPr>
                        <a:t>Mecanismo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F2937"/>
                          </a:solidFill>
                        </a:rPr>
                        <a:t>Origem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F2937"/>
                          </a:solidFill>
                        </a:rPr>
                        <a:t>Hoje em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E6F4F1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F2937"/>
                          </a:solidFill>
                        </a:rPr>
                        <a:t>Semáforos</a:t>
                      </a:r>
                      <a:r>
                        <a:rPr sz="1500" b="0">
                          <a:solidFill>
                            <a:srgbClr val="1F2937"/>
                          </a:solidFill>
                        </a:rPr>
                        <a:t> (13.3)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Dijkstra, 1965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80" b="0">
                          <a:solidFill>
                            <a:srgbClr val="1F2937"/>
                          </a:solidFill>
                          <a:latin typeface="Consolas"/>
                        </a:rPr>
                        <a:t>Semaphore</a:t>
                      </a:r>
                      <a:r>
                        <a:rPr sz="1500" b="0">
                          <a:solidFill>
                            <a:srgbClr val="1F2937"/>
                          </a:solidFill>
                        </a:rPr>
                        <a:t> (Java), POSIX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F2937"/>
                          </a:solidFill>
                        </a:rPr>
                        <a:t>Monitores</a:t>
                      </a:r>
                      <a:r>
                        <a:rPr sz="1500" b="0">
                          <a:solidFill>
                            <a:srgbClr val="1F2937"/>
                          </a:solidFill>
                        </a:rPr>
                        <a:t> (13.4)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Brinch Hansen 1973, Hoare 1974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80" b="0">
                          <a:solidFill>
                            <a:srgbClr val="1F2937"/>
                          </a:solidFill>
                          <a:latin typeface="Consolas"/>
                        </a:rPr>
                        <a:t>synchronized</a:t>
                      </a:r>
                      <a:r>
                        <a:rPr sz="1500" b="0">
                          <a:solidFill>
                            <a:srgbClr val="1F2937"/>
                          </a:solidFill>
                        </a:rPr>
                        <a:t> (Java), </a:t>
                      </a:r>
                      <a:r>
                        <a:rPr sz="1380" b="0">
                          <a:solidFill>
                            <a:srgbClr val="1F2937"/>
                          </a:solidFill>
                          <a:latin typeface="Consolas"/>
                        </a:rPr>
                        <a:t>lock</a:t>
                      </a:r>
                      <a:r>
                        <a:rPr sz="1500" b="0">
                          <a:solidFill>
                            <a:srgbClr val="1F2937"/>
                          </a:solidFill>
                        </a:rPr>
                        <a:t> (C#), Ada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F2937"/>
                          </a:solidFill>
                        </a:rPr>
                        <a:t>Passagem de mensagens</a:t>
                      </a:r>
                      <a:r>
                        <a:rPr sz="1500" b="0">
                          <a:solidFill>
                            <a:srgbClr val="1F2937"/>
                          </a:solidFill>
                        </a:rPr>
                        <a:t> (13.5)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Hoare (CSP), 1978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canais (Go, Rust), Ada, Erlang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303520" y="4892040"/>
            <a:ext cx="6336792" cy="118872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</a:rPr>
              <a:t>Do mais primitivo ao mais abstrato: quanto maior o nível, </a:t>
            </a:r>
            <a:r>
              <a:rPr sz="1600" b="1">
                <a:solidFill>
                  <a:srgbClr val="1F2937"/>
                </a:solidFill>
              </a:rPr>
              <a:t>menos erros</a:t>
            </a:r>
            <a:r>
              <a:rPr sz="1600" b="0">
                <a:solidFill>
                  <a:srgbClr val="1F2937"/>
                </a:solidFill>
              </a:rPr>
              <a:t> e </a:t>
            </a:r>
            <a:r>
              <a:rPr sz="1600" b="1">
                <a:solidFill>
                  <a:srgbClr val="1F2937"/>
                </a:solidFill>
              </a:rPr>
              <a:t>menos controle</a:t>
            </a:r>
            <a:r>
              <a:rPr sz="1600" b="0">
                <a:solidFill>
                  <a:srgbClr val="1F2937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Semáforos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Sebesta, 11ª ed. · §13.3 e §13.7.3 · p. 552-557 e 572 · exemplos/03_semaforos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5394960" cy="310896"/>
          </a:xfrm>
          <a:prstGeom prst="rect">
            <a:avLst/>
          </a:prstGeom>
          <a:noFill/>
        </p:spPr>
        <p:txBody>
          <a:bodyPr wrap="square" anchor="b" lIns="18288" rIns="18288" tIns="18288" bIns="18288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</a:rPr>
              <a:t>Pseudocódigo do livro (p. 555-556)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73352"/>
            <a:ext cx="5394960" cy="2852928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task producer;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loop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 -- produzir VALUE --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 wait(emptyspots);   </a:t>
            </a:r>
            <a:r>
              <a:rPr sz="1500" i="0">
                <a:solidFill>
                  <a:srgbClr val="0F766E"/>
                </a:solidFill>
                <a:latin typeface="Consolas"/>
              </a:rPr>
              <a:t>{ espera espaço }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 wait(access);       </a:t>
            </a:r>
            <a:r>
              <a:rPr sz="1500" i="0">
                <a:solidFill>
                  <a:srgbClr val="0F766E"/>
                </a:solidFill>
                <a:latin typeface="Consolas"/>
              </a:rPr>
              <a:t>{ exclusão mútua }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 DEPOSIT(VALUE);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 release(access);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 release(fullspots); </a:t>
            </a:r>
            <a:r>
              <a:rPr sz="1500" i="0">
                <a:solidFill>
                  <a:srgbClr val="0F766E"/>
                </a:solidFill>
                <a:latin typeface="Consolas"/>
              </a:rPr>
              <a:t>{ avisa: há valor }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end loop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end producer;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25880"/>
            <a:ext cx="5422392" cy="310896"/>
          </a:xfrm>
          <a:prstGeom prst="rect">
            <a:avLst/>
          </a:prstGeom>
          <a:noFill/>
        </p:spPr>
        <p:txBody>
          <a:bodyPr wrap="square" anchor="b" lIns="18288" rIns="18288" tIns="18288" bIns="18288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</a:rPr>
              <a:t>Java · Semaphore (p. 572)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673352"/>
            <a:ext cx="5422392" cy="2852928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Semaphore vazios = new Semaphore(TAM);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Semaphore cheios = new Semaphore(0);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Semaphore acesso = new Semaphore(1);  </a:t>
            </a:r>
            <a:r>
              <a:rPr sz="1500" i="0">
                <a:solidFill>
                  <a:srgbClr val="0F766E"/>
                </a:solidFill>
                <a:latin typeface="Consolas"/>
              </a:rPr>
              <a:t>// binário</a:t>
            </a:r>
          </a:p>
          <a:p>
            <a:pPr algn="l">
              <a:spcAft>
                <a:spcPts val="0"/>
              </a:spcAft>
            </a:pPr>
            <a:r>
              <a:rPr sz="1500"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0F766E"/>
                </a:solidFill>
                <a:latin typeface="Consolas"/>
              </a:rPr>
              <a:t>// produtor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vazios.acquire();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acesso.acquire();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buffer[entra] = v; entra = (entra + 1) % TAM;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acesso.release();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cheios.release();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663440"/>
            <a:ext cx="11094415" cy="658368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</a:rPr>
              <a:t>Semáforo = contador + fila (p. 552)</a:t>
            </a:r>
          </a:p>
          <a:p>
            <a:pPr algn="l">
              <a:spcAft>
                <a:spcPts val="400"/>
              </a:spcAft>
            </a:pPr>
            <a:r>
              <a:rPr sz="1288" b="0">
                <a:solidFill>
                  <a:srgbClr val="1F2937"/>
                </a:solidFill>
                <a:latin typeface="Consolas"/>
              </a:rPr>
              <a:t>wait</a:t>
            </a:r>
            <a:r>
              <a:rPr sz="1400" b="0">
                <a:solidFill>
                  <a:srgbClr val="1F2937"/>
                </a:solidFill>
              </a:rPr>
              <a:t> decrementa ou põe a tarefa na fila; </a:t>
            </a:r>
            <a:r>
              <a:rPr sz="1288" b="0">
                <a:solidFill>
                  <a:srgbClr val="1F2937"/>
                </a:solidFill>
                <a:latin typeface="Consolas"/>
              </a:rPr>
              <a:t>release</a:t>
            </a:r>
            <a:r>
              <a:rPr sz="1400" b="0">
                <a:solidFill>
                  <a:srgbClr val="1F2937"/>
                </a:solidFill>
              </a:rPr>
              <a:t> acorda uma tarefa ou incrementa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431536"/>
            <a:ext cx="11094415" cy="658368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</a:rPr>
              <a:t>Fragilidade (p. 556)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</a:rPr>
              <a:t>esquecer um </a:t>
            </a:r>
            <a:r>
              <a:rPr sz="1288" b="0">
                <a:solidFill>
                  <a:srgbClr val="1F2937"/>
                </a:solidFill>
                <a:latin typeface="Consolas"/>
              </a:rPr>
              <a:t>release</a:t>
            </a:r>
            <a:r>
              <a:rPr sz="1400" b="0">
                <a:solidFill>
                  <a:srgbClr val="1F2937"/>
                </a:solidFill>
              </a:rPr>
              <a:t> causa impasse; esquecer um </a:t>
            </a:r>
            <a:r>
              <a:rPr sz="1288" b="0">
                <a:solidFill>
                  <a:srgbClr val="1F2937"/>
                </a:solidFill>
                <a:latin typeface="Consolas"/>
              </a:rPr>
              <a:t>wait</a:t>
            </a:r>
            <a:r>
              <a:rPr sz="1400" b="0">
                <a:solidFill>
                  <a:srgbClr val="1F2937"/>
                </a:solidFill>
              </a:rPr>
              <a:t> estoura o buffer, e nada no código impede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Monitores: o TAD da concorrência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Sebesta, 11ª ed. · §13.4 e §13.7.4-13.7.5 · p. 557-559 e 572-576 · exemplos/04_monitores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6583680" cy="310896"/>
          </a:xfrm>
          <a:prstGeom prst="rect">
            <a:avLst/>
          </a:prstGeom>
          <a:noFill/>
        </p:spPr>
        <p:txBody>
          <a:bodyPr wrap="square" anchor="b" lIns="18288" rIns="18288" tIns="18288" bIns="18288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</a:rPr>
              <a:t>Java · Monitor.java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73352"/>
            <a:ext cx="6583680" cy="4407408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1350" i="0">
                <a:solidFill>
                  <a:srgbClr val="111827"/>
                </a:solidFill>
                <a:latin typeface="Consolas"/>
              </a:rPr>
              <a:t>class Fila {                          </a:t>
            </a:r>
            <a:r>
              <a:rPr sz="1350" i="0">
                <a:solidFill>
                  <a:srgbClr val="0F766E"/>
                </a:solidFill>
                <a:latin typeface="Consolas"/>
              </a:rPr>
              <a:t>// dados + operações juntos</a:t>
            </a:r>
          </a:p>
          <a:p>
            <a:pPr algn="l">
              <a:spcAft>
                <a:spcPts val="0"/>
              </a:spcAft>
            </a:pPr>
            <a:r>
              <a:rPr sz="1350" i="0">
                <a:solidFill>
                  <a:srgbClr val="111827"/>
                </a:solidFill>
                <a:latin typeface="Consolas"/>
              </a:rPr>
              <a:t>    private int[] dados = new int[3];</a:t>
            </a:r>
          </a:p>
          <a:p>
            <a:pPr algn="l">
              <a:spcAft>
                <a:spcPts val="0"/>
              </a:spcAft>
            </a:pPr>
            <a:r>
              <a:rPr sz="1350" i="0">
                <a:solidFill>
                  <a:srgbClr val="111827"/>
                </a:solidFill>
                <a:latin typeface="Consolas"/>
              </a:rPr>
              <a:t>    private int ocupados, entra, sai;</a:t>
            </a:r>
          </a:p>
          <a:p>
            <a:pPr algn="l">
              <a:spcAft>
                <a:spcPts val="0"/>
              </a:spcAft>
            </a:pPr>
            <a:r>
              <a:rPr sz="1350"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350" i="0">
                <a:solidFill>
                  <a:srgbClr val="111827"/>
                </a:solidFill>
                <a:latin typeface="Consolas"/>
              </a:rPr>
              <a:t>    synchronized void depositar(int v)</a:t>
            </a:r>
          </a:p>
          <a:p>
            <a:pPr algn="l">
              <a:spcAft>
                <a:spcPts val="0"/>
              </a:spcAft>
            </a:pPr>
            <a:r>
              <a:rPr sz="1350" i="0">
                <a:solidFill>
                  <a:srgbClr val="111827"/>
                </a:solidFill>
                <a:latin typeface="Consolas"/>
              </a:rPr>
              <a:t>            throws InterruptedException {</a:t>
            </a:r>
          </a:p>
          <a:p>
            <a:pPr algn="l">
              <a:spcAft>
                <a:spcPts val="0"/>
              </a:spcAft>
            </a:pPr>
            <a:r>
              <a:rPr sz="1350" i="0">
                <a:solidFill>
                  <a:srgbClr val="111827"/>
                </a:solidFill>
                <a:latin typeface="Consolas"/>
              </a:rPr>
              <a:t>        while (ocupados == 3) wait();     </a:t>
            </a:r>
            <a:r>
              <a:rPr sz="1350" i="0">
                <a:solidFill>
                  <a:srgbClr val="0F766E"/>
                </a:solidFill>
                <a:latin typeface="Consolas"/>
              </a:rPr>
              <a:t>// cooperação</a:t>
            </a:r>
          </a:p>
          <a:p>
            <a:pPr algn="l">
              <a:spcAft>
                <a:spcPts val="0"/>
              </a:spcAft>
            </a:pPr>
            <a:r>
              <a:rPr sz="1350" i="0">
                <a:solidFill>
                  <a:srgbClr val="111827"/>
                </a:solidFill>
                <a:latin typeface="Consolas"/>
              </a:rPr>
              <a:t>        dados[entra] = v; entra = (entra + 1) % 3;</a:t>
            </a:r>
          </a:p>
          <a:p>
            <a:pPr algn="l">
              <a:spcAft>
                <a:spcPts val="0"/>
              </a:spcAft>
            </a:pPr>
            <a:r>
              <a:rPr sz="1350" i="0">
                <a:solidFill>
                  <a:srgbClr val="111827"/>
                </a:solidFill>
                <a:latin typeface="Consolas"/>
              </a:rPr>
              <a:t>        ocupados++;</a:t>
            </a:r>
          </a:p>
          <a:p>
            <a:pPr algn="l">
              <a:spcAft>
                <a:spcPts val="0"/>
              </a:spcAft>
            </a:pPr>
            <a:r>
              <a:rPr sz="1350" i="0">
                <a:solidFill>
                  <a:srgbClr val="111827"/>
                </a:solidFill>
                <a:latin typeface="Consolas"/>
              </a:rPr>
              <a:t>        notifyAll();                      </a:t>
            </a:r>
            <a:r>
              <a:rPr sz="1350" i="0">
                <a:solidFill>
                  <a:srgbClr val="0F766E"/>
                </a:solidFill>
                <a:latin typeface="Consolas"/>
              </a:rPr>
              <a:t>// acorda quem espera</a:t>
            </a:r>
          </a:p>
          <a:p>
            <a:pPr algn="l">
              <a:spcAft>
                <a:spcPts val="0"/>
              </a:spcAft>
            </a:pPr>
            <a:r>
              <a:rPr sz="1350" i="0">
                <a:solidFill>
                  <a:srgbClr val="111827"/>
                </a:solidFill>
                <a:latin typeface="Consolas"/>
              </a:rPr>
              <a:t>    }</a:t>
            </a:r>
          </a:p>
          <a:p>
            <a:pPr algn="l">
              <a:spcAft>
                <a:spcPts val="0"/>
              </a:spcAft>
            </a:pPr>
            <a:r>
              <a:rPr sz="1350" i="0">
                <a:solidFill>
                  <a:srgbClr val="111827"/>
                </a:solidFill>
                <a:latin typeface="Consolas"/>
              </a:rPr>
              <a:t>    synchronized int retirar()</a:t>
            </a:r>
          </a:p>
          <a:p>
            <a:pPr algn="l">
              <a:spcAft>
                <a:spcPts val="0"/>
              </a:spcAft>
            </a:pPr>
            <a:r>
              <a:rPr sz="1350" i="0">
                <a:solidFill>
                  <a:srgbClr val="111827"/>
                </a:solidFill>
                <a:latin typeface="Consolas"/>
              </a:rPr>
              <a:t>            throws InterruptedException {</a:t>
            </a:r>
          </a:p>
          <a:p>
            <a:pPr algn="l">
              <a:spcAft>
                <a:spcPts val="0"/>
              </a:spcAft>
            </a:pPr>
            <a:r>
              <a:rPr sz="1350" i="0">
                <a:solidFill>
                  <a:srgbClr val="111827"/>
                </a:solidFill>
                <a:latin typeface="Consolas"/>
              </a:rPr>
              <a:t>        while (ocupados == 0) wait();</a:t>
            </a:r>
          </a:p>
          <a:p>
            <a:pPr algn="l">
              <a:spcAft>
                <a:spcPts val="0"/>
              </a:spcAft>
            </a:pPr>
            <a:r>
              <a:rPr sz="1350" i="0">
                <a:solidFill>
                  <a:srgbClr val="111827"/>
                </a:solidFill>
                <a:latin typeface="Consolas"/>
              </a:rPr>
              <a:t>        int v = dados[sai]; sai = (sai + 1) % 3;</a:t>
            </a:r>
          </a:p>
          <a:p>
            <a:pPr algn="l">
              <a:spcAft>
                <a:spcPts val="0"/>
              </a:spcAft>
            </a:pPr>
            <a:r>
              <a:rPr sz="1350" i="0">
                <a:solidFill>
                  <a:srgbClr val="111827"/>
                </a:solidFill>
                <a:latin typeface="Consolas"/>
              </a:rPr>
              <a:t>        ocupados--;</a:t>
            </a:r>
          </a:p>
          <a:p>
            <a:pPr algn="l">
              <a:spcAft>
                <a:spcPts val="0"/>
              </a:spcAft>
            </a:pPr>
            <a:r>
              <a:rPr sz="1350" i="0">
                <a:solidFill>
                  <a:srgbClr val="111827"/>
                </a:solidFill>
                <a:latin typeface="Consolas"/>
              </a:rPr>
              <a:t>        notifyAll();</a:t>
            </a:r>
          </a:p>
          <a:p>
            <a:pPr algn="l">
              <a:spcAft>
                <a:spcPts val="0"/>
              </a:spcAft>
            </a:pPr>
            <a:r>
              <a:rPr sz="1350" i="0">
                <a:solidFill>
                  <a:srgbClr val="111827"/>
                </a:solidFill>
                <a:latin typeface="Consolas"/>
              </a:rPr>
              <a:t>        return v;</a:t>
            </a:r>
          </a:p>
          <a:p>
            <a:pPr algn="l">
              <a:spcAft>
                <a:spcPts val="0"/>
              </a:spcAft>
            </a:pPr>
            <a:r>
              <a:rPr sz="1350" i="0">
                <a:solidFill>
                  <a:srgbClr val="111827"/>
                </a:solidFill>
                <a:latin typeface="Consolas"/>
              </a:rPr>
              <a:t>    }</a:t>
            </a:r>
          </a:p>
          <a:p>
            <a:pPr algn="l">
              <a:spcAft>
                <a:spcPts val="0"/>
              </a:spcAft>
            </a:pPr>
            <a:r>
              <a:rPr sz="1350" i="0">
                <a:solidFill>
                  <a:srgbClr val="111827"/>
                </a:solidFill>
                <a:latin typeface="Consolas"/>
              </a:rP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60920" y="1325880"/>
            <a:ext cx="4279392" cy="146304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</a:rPr>
              <a:t>Competição: automática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</a:rPr>
              <a:t>só uma tarefa por vez dentro do monitor (</a:t>
            </a:r>
            <a:r>
              <a:rPr sz="1380" b="0">
                <a:solidFill>
                  <a:srgbClr val="1F2937"/>
                </a:solidFill>
                <a:latin typeface="Consolas"/>
              </a:rPr>
              <a:t>synchronized</a:t>
            </a:r>
            <a:r>
              <a:rPr sz="1500" b="0">
                <a:solidFill>
                  <a:srgbClr val="1F2937"/>
                </a:solidFill>
              </a:rPr>
              <a:t>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60920" y="2971800"/>
            <a:ext cx="4279392" cy="146304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</a:rPr>
              <a:t>Cooperação: manual</a:t>
            </a:r>
          </a:p>
          <a:p>
            <a:pPr algn="l">
              <a:spcAft>
                <a:spcPts val="400"/>
              </a:spcAft>
            </a:pPr>
            <a:r>
              <a:rPr sz="1380" b="0">
                <a:solidFill>
                  <a:srgbClr val="1F2937"/>
                </a:solidFill>
                <a:latin typeface="Consolas"/>
              </a:rPr>
              <a:t>wait()</a:t>
            </a:r>
            <a:r>
              <a:rPr sz="1500" b="0">
                <a:solidFill>
                  <a:srgbClr val="1F2937"/>
                </a:solidFill>
              </a:rPr>
              <a:t> libera e espera; </a:t>
            </a:r>
            <a:r>
              <a:rPr sz="1380" b="0">
                <a:solidFill>
                  <a:srgbClr val="1F2937"/>
                </a:solidFill>
                <a:latin typeface="Consolas"/>
              </a:rPr>
              <a:t>notifyAll()</a:t>
            </a:r>
            <a:r>
              <a:rPr sz="1500" b="0">
                <a:solidFill>
                  <a:srgbClr val="1F2937"/>
                </a:solidFill>
              </a:rPr>
              <a:t> acorda (p. 558 e 578)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4617720"/>
            <a:ext cx="4279392" cy="146304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</a:rPr>
              <a:t>Mesmo poder dos semáforos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</a:rPr>
              <a:t>um implementa o outro, mas o monitor erra menos (p. 558)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Java: threads, atômicos, cadeados e threads virtuais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Sebesta, 11ª ed. · §13.7 · p. 568-578 · exemplos/04_monitores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6217920" cy="310896"/>
          </a:xfrm>
          <a:prstGeom prst="rect">
            <a:avLst/>
          </a:prstGeom>
          <a:noFill/>
        </p:spPr>
        <p:txBody>
          <a:bodyPr wrap="square" anchor="b" lIns="18288" rIns="18288" tIns="18288" bIns="18288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</a:rPr>
              <a:t>Java · Atomico.java (p. 572-578)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73352"/>
            <a:ext cx="6217920" cy="3310128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1250" i="0">
                <a:solidFill>
                  <a:srgbClr val="111827"/>
                </a:solidFill>
                <a:latin typeface="Consolas"/>
              </a:rPr>
              <a:t>static synchronized void incrementa() { n++; }  </a:t>
            </a:r>
            <a:r>
              <a:rPr sz="1250" i="0">
                <a:solidFill>
                  <a:srgbClr val="0F766E"/>
                </a:solidFill>
                <a:latin typeface="Consolas"/>
              </a:rPr>
              <a:t>// trava implícita</a:t>
            </a:r>
          </a:p>
          <a:p>
            <a:pPr algn="l">
              <a:spcAft>
                <a:spcPts val="0"/>
              </a:spcAft>
            </a:pPr>
            <a:r>
              <a:rPr sz="1250"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250" i="0">
                <a:solidFill>
                  <a:srgbClr val="111827"/>
                </a:solidFill>
                <a:latin typeface="Consolas"/>
              </a:rPr>
              <a:t>AtomicInteger atomico = new AtomicInteger();</a:t>
            </a:r>
          </a:p>
          <a:p>
            <a:pPr algn="l">
              <a:spcAft>
                <a:spcPts val="0"/>
              </a:spcAft>
            </a:pPr>
            <a:r>
              <a:rPr sz="1250" i="0">
                <a:solidFill>
                  <a:srgbClr val="111827"/>
                </a:solidFill>
                <a:latin typeface="Consolas"/>
              </a:rPr>
              <a:t>atomico.incrementAndGet();                      </a:t>
            </a:r>
            <a:r>
              <a:rPr sz="1250" i="0">
                <a:solidFill>
                  <a:srgbClr val="0F766E"/>
                </a:solidFill>
                <a:latin typeface="Consolas"/>
              </a:rPr>
              <a:t>// sem bloqueio</a:t>
            </a:r>
          </a:p>
          <a:p>
            <a:pPr algn="l">
              <a:spcAft>
                <a:spcPts val="0"/>
              </a:spcAft>
            </a:pPr>
            <a:r>
              <a:rPr sz="1250"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250" i="0">
                <a:solidFill>
                  <a:srgbClr val="111827"/>
                </a:solidFill>
                <a:latin typeface="Consolas"/>
              </a:rPr>
              <a:t>ReentrantLock trava = new ReentrantLock();</a:t>
            </a:r>
          </a:p>
          <a:p>
            <a:pPr algn="l">
              <a:spcAft>
                <a:spcPts val="0"/>
              </a:spcAft>
            </a:pPr>
            <a:r>
              <a:rPr sz="1250" i="0">
                <a:solidFill>
                  <a:srgbClr val="111827"/>
                </a:solidFill>
                <a:latin typeface="Consolas"/>
              </a:rPr>
              <a:t>trava.lock();</a:t>
            </a:r>
          </a:p>
          <a:p>
            <a:pPr algn="l">
              <a:spcAft>
                <a:spcPts val="0"/>
              </a:spcAft>
            </a:pPr>
            <a:r>
              <a:rPr sz="1250" i="0">
                <a:solidFill>
                  <a:srgbClr val="111827"/>
                </a:solidFill>
                <a:latin typeface="Consolas"/>
              </a:rPr>
              <a:t>try { n++; } finally { trava.unlock(); }        </a:t>
            </a:r>
            <a:r>
              <a:rPr sz="1250" i="0">
                <a:solidFill>
                  <a:srgbClr val="0F766E"/>
                </a:solidFill>
                <a:latin typeface="Consolas"/>
              </a:rPr>
              <a:t>// unlock SEMPRE</a:t>
            </a:r>
          </a:p>
          <a:p>
            <a:pPr algn="l">
              <a:spcAft>
                <a:spcPts val="0"/>
              </a:spcAft>
            </a:pPr>
            <a:r>
              <a:rPr sz="1250"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250" i="0">
                <a:solidFill>
                  <a:srgbClr val="0F766E"/>
                </a:solidFill>
                <a:latin typeface="Consolas"/>
              </a:rPr>
              <a:t>// 4 threads x 200.000: as três dão 800000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74920"/>
            <a:ext cx="6217920" cy="310896"/>
          </a:xfrm>
          <a:prstGeom prst="rect">
            <a:avLst/>
          </a:prstGeom>
          <a:noFill/>
        </p:spPr>
        <p:txBody>
          <a:bodyPr wrap="square" anchor="b" lIns="18288" rIns="18288" tIns="18288" bIns="18288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</a:rPr>
              <a:t>Threads virtuais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422392"/>
            <a:ext cx="6217920" cy="658368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1200" i="0">
                <a:solidFill>
                  <a:srgbClr val="111827"/>
                </a:solidFill>
                <a:latin typeface="Consolas"/>
              </a:rPr>
              <a:t>10.000 tarefas de 1 s terminaram em ~1 s     </a:t>
            </a:r>
            <a:r>
              <a:rPr sz="1200" i="0">
                <a:solidFill>
                  <a:srgbClr val="0F766E"/>
                </a:solidFill>
                <a:latin typeface="Consolas"/>
              </a:rPr>
              <a:t>(Virtuais.java, Java 21+)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95160" y="1325880"/>
            <a:ext cx="4645152" cy="1024128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472" b="1">
                <a:solidFill>
                  <a:srgbClr val="1F2937"/>
                </a:solidFill>
                <a:latin typeface="Consolas"/>
              </a:rPr>
              <a:t>synchronized</a:t>
            </a:r>
            <a:r>
              <a:rPr sz="1600" b="1">
                <a:solidFill>
                  <a:srgbClr val="1F2937"/>
                </a:solidFill>
              </a:rPr>
              <a:t> (p. 572)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</a:rPr>
              <a:t>trava implícita, liberada no fim do bloco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95160" y="2478024"/>
            <a:ext cx="4645152" cy="1024128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</a:rPr>
              <a:t>Atômicos (p. 577)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</a:rPr>
              <a:t>instrução atômica do processador: rápido e sem bloqueio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95160" y="3630168"/>
            <a:ext cx="4645152" cy="1024128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472" b="1">
                <a:solidFill>
                  <a:srgbClr val="1F2937"/>
                </a:solidFill>
                <a:latin typeface="Consolas"/>
              </a:rPr>
              <a:t>ReentrantLock</a:t>
            </a:r>
            <a:r>
              <a:rPr sz="1600" b="1">
                <a:solidFill>
                  <a:srgbClr val="1F2937"/>
                </a:solidFill>
              </a:rPr>
              <a:t> (p. 577)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</a:rPr>
              <a:t>flexível (</a:t>
            </a:r>
            <a:r>
              <a:rPr sz="1288" b="0">
                <a:solidFill>
                  <a:srgbClr val="1F2937"/>
                </a:solidFill>
                <a:latin typeface="Consolas"/>
              </a:rPr>
              <a:t>tryLock</a:t>
            </a:r>
            <a:r>
              <a:rPr sz="1400" b="0">
                <a:solidFill>
                  <a:srgbClr val="1F2937"/>
                </a:solidFill>
              </a:rPr>
              <a:t>), mas é preciso lembrar do </a:t>
            </a:r>
            <a:r>
              <a:rPr sz="1288" b="0">
                <a:solidFill>
                  <a:srgbClr val="1F2937"/>
                </a:solidFill>
                <a:latin typeface="Consolas"/>
              </a:rPr>
              <a:t>unlock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95160" y="4782312"/>
            <a:ext cx="4645152" cy="1024128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</a:rPr>
              <a:t>Threads virtuais (Java 21)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</a:rPr>
              <a:t>milhões de tarefas leves gerenciadas pela JVM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Passagem de mensagens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Sebesta, 11ª ed. · §13.5-13.6 · p. 559-568 · exemplos/05_mensagens/canais.go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4937760" cy="132588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</a:rPr>
              <a:t>Sem memória compartilhada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</a:rPr>
              <a:t>as tarefas trocam mensagens (Hoare, CSP 1978)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834639"/>
            <a:ext cx="4937760" cy="132588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</a:rPr>
              <a:t>Rendezvous (p. 560)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</a:rPr>
              <a:t>emissor e receptor se encontram; quem chega primeiro espera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343400"/>
            <a:ext cx="4937760" cy="132588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</a:rPr>
              <a:t>Funciona entre máquinas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</a:rPr>
              <a:t>ao contrário dos monitores (p. 558)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67085"/>
                </a:solidFill>
              </a:rPr>
              <a:t>Ada: </a:t>
            </a:r>
            <a:r>
              <a:rPr sz="1288" b="0">
                <a:solidFill>
                  <a:srgbClr val="667085"/>
                </a:solidFill>
                <a:latin typeface="Consolas"/>
              </a:rPr>
              <a:t>entry</a:t>
            </a:r>
            <a:r>
              <a:rPr sz="1400" b="0">
                <a:solidFill>
                  <a:srgbClr val="667085"/>
                </a:solidFill>
              </a:rPr>
              <a:t>, </a:t>
            </a:r>
            <a:r>
              <a:rPr sz="1288" b="0">
                <a:solidFill>
                  <a:srgbClr val="667085"/>
                </a:solidFill>
                <a:latin typeface="Consolas"/>
              </a:rPr>
              <a:t>accept</a:t>
            </a:r>
            <a:r>
              <a:rPr sz="1400" b="0">
                <a:solidFill>
                  <a:srgbClr val="667085"/>
                </a:solidFill>
              </a:rPr>
              <a:t> e </a:t>
            </a:r>
            <a:r>
              <a:rPr sz="1288" b="0">
                <a:solidFill>
                  <a:srgbClr val="667085"/>
                </a:solidFill>
                <a:latin typeface="Consolas"/>
              </a:rPr>
              <a:t>select</a:t>
            </a:r>
            <a:r>
              <a:rPr sz="1400" b="0">
                <a:solidFill>
                  <a:srgbClr val="667085"/>
                </a:solidFill>
              </a:rPr>
              <a:t> com guardas (13.6)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0" y="1325880"/>
            <a:ext cx="5925312" cy="310896"/>
          </a:xfrm>
          <a:prstGeom prst="rect">
            <a:avLst/>
          </a:prstGeom>
          <a:noFill/>
        </p:spPr>
        <p:txBody>
          <a:bodyPr wrap="square" anchor="b" lIns="18288" rIns="18288" tIns="18288" bIns="18288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</a:rPr>
              <a:t>Go · canais (o CSP de Hoare)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0" y="1673352"/>
            <a:ext cx="5925312" cy="4407408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func produtor(n int, saida chan&lt;- int) {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 for i := 1; i &lt;= n; i++ {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     saida &lt;- i       </a:t>
            </a:r>
            <a:r>
              <a:rPr sz="1500" i="0">
                <a:solidFill>
                  <a:srgbClr val="0F766E"/>
                </a:solidFill>
                <a:latin typeface="Consolas"/>
              </a:rPr>
              <a:t>// envia: espera o receptor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 }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 close(saida)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}</a:t>
            </a:r>
          </a:p>
          <a:p>
            <a:pPr algn="l">
              <a:spcAft>
                <a:spcPts val="0"/>
              </a:spcAft>
            </a:pPr>
            <a:r>
              <a:rPr sz="1500"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func main() {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 ch := make(chan int) </a:t>
            </a:r>
            <a:r>
              <a:rPr sz="1500" i="0">
                <a:solidFill>
                  <a:srgbClr val="0F766E"/>
                </a:solidFill>
                <a:latin typeface="Consolas"/>
              </a:rPr>
              <a:t>// sem buffer: síncrono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 go produtor(5, ch)   </a:t>
            </a:r>
            <a:r>
              <a:rPr sz="1500" i="0">
                <a:solidFill>
                  <a:srgbClr val="0F766E"/>
                </a:solidFill>
                <a:latin typeface="Consolas"/>
              </a:rPr>
              <a:t>// goroutine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 soma := 0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 for v := range ch {  </a:t>
            </a:r>
            <a:r>
              <a:rPr sz="1500" i="0">
                <a:solidFill>
                  <a:srgbClr val="0F766E"/>
                </a:solidFill>
                <a:latin typeface="Consolas"/>
              </a:rPr>
              <a:t>// recebe até fechar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     soma += v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 }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    fmt.Println("soma =", soma)   </a:t>
            </a:r>
            <a:r>
              <a:rPr sz="1500" i="0">
                <a:solidFill>
                  <a:srgbClr val="0F766E"/>
                </a:solidFill>
                <a:latin typeface="Consolas"/>
              </a:rPr>
              <a:t>// 15</a:t>
            </a:r>
          </a:p>
          <a:p>
            <a:pPr algn="l">
              <a:spcAft>
                <a:spcPts val="0"/>
              </a:spcAft>
            </a:pPr>
            <a:r>
              <a:rPr sz="1500" i="0">
                <a:solidFill>
                  <a:srgbClr val="11182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Go: grupos de trabalhadores e select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Sebesta, 11ª ed. · §13.5 e §8.5 · exemplos/05_mensagens/trabalhadores.go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6309360" cy="310896"/>
          </a:xfrm>
          <a:prstGeom prst="rect">
            <a:avLst/>
          </a:prstGeom>
          <a:noFill/>
        </p:spPr>
        <p:txBody>
          <a:bodyPr wrap="square" anchor="b" lIns="18288" rIns="18288" tIns="18288" bIns="18288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</a:rPr>
              <a:t>Go · trabalhadores.go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73352"/>
            <a:ext cx="6309360" cy="4407408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1350" i="0">
                <a:solidFill>
                  <a:srgbClr val="111827"/>
                </a:solidFill>
                <a:latin typeface="Consolas"/>
              </a:rPr>
              <a:t>func trabalhador(id int, tarefas &lt;-chan int,</a:t>
            </a:r>
          </a:p>
          <a:p>
            <a:pPr algn="l">
              <a:spcAft>
                <a:spcPts val="0"/>
              </a:spcAft>
            </a:pPr>
            <a:r>
              <a:rPr sz="1350" i="0">
                <a:solidFill>
                  <a:srgbClr val="111827"/>
                </a:solidFill>
                <a:latin typeface="Consolas"/>
              </a:rPr>
              <a:t>    resultados chan&lt;- string, wg *sync.WaitGroup) {</a:t>
            </a:r>
          </a:p>
          <a:p>
            <a:pPr algn="l">
              <a:spcAft>
                <a:spcPts val="0"/>
              </a:spcAft>
            </a:pPr>
            <a:r>
              <a:rPr sz="1350" i="0">
                <a:solidFill>
                  <a:srgbClr val="111827"/>
                </a:solidFill>
                <a:latin typeface="Consolas"/>
              </a:rPr>
              <a:t>    defer wg.Done()</a:t>
            </a:r>
          </a:p>
          <a:p>
            <a:pPr algn="l">
              <a:spcAft>
                <a:spcPts val="0"/>
              </a:spcAft>
            </a:pPr>
            <a:r>
              <a:rPr sz="1350" i="0">
                <a:solidFill>
                  <a:srgbClr val="111827"/>
                </a:solidFill>
                <a:latin typeface="Consolas"/>
              </a:rPr>
              <a:t>    for t := range tarefas {</a:t>
            </a:r>
          </a:p>
          <a:p>
            <a:pPr algn="l">
              <a:spcAft>
                <a:spcPts val="0"/>
              </a:spcAft>
            </a:pPr>
            <a:r>
              <a:rPr sz="1350" i="0">
                <a:solidFill>
                  <a:srgbClr val="111827"/>
                </a:solidFill>
                <a:latin typeface="Consolas"/>
              </a:rPr>
              <a:t>        time.Sleep(50 * time.Millisecond)   </a:t>
            </a:r>
            <a:r>
              <a:rPr sz="1350" i="0">
                <a:solidFill>
                  <a:srgbClr val="0F766E"/>
                </a:solidFill>
                <a:latin typeface="Consolas"/>
              </a:rPr>
              <a:t>// trabalho</a:t>
            </a:r>
          </a:p>
          <a:p>
            <a:pPr algn="l">
              <a:spcAft>
                <a:spcPts val="0"/>
              </a:spcAft>
            </a:pPr>
            <a:r>
              <a:rPr sz="1350" i="0">
                <a:solidFill>
                  <a:srgbClr val="111827"/>
                </a:solidFill>
                <a:latin typeface="Consolas"/>
              </a:rPr>
              <a:t>        resultados &lt;- fmt.Sprintf("%d fez %d", id, t)</a:t>
            </a:r>
          </a:p>
          <a:p>
            <a:pPr algn="l">
              <a:spcAft>
                <a:spcPts val="0"/>
              </a:spcAft>
            </a:pPr>
            <a:r>
              <a:rPr sz="1350" i="0">
                <a:solidFill>
                  <a:srgbClr val="111827"/>
                </a:solidFill>
                <a:latin typeface="Consolas"/>
              </a:rPr>
              <a:t>    }</a:t>
            </a:r>
          </a:p>
          <a:p>
            <a:pPr algn="l">
              <a:spcAft>
                <a:spcPts val="0"/>
              </a:spcAft>
            </a:pPr>
            <a:r>
              <a:rPr sz="1350" i="0">
                <a:solidFill>
                  <a:srgbClr val="111827"/>
                </a:solidFill>
                <a:latin typeface="Consolas"/>
              </a:rPr>
              <a:t>}</a:t>
            </a:r>
          </a:p>
          <a:p>
            <a:pPr algn="l">
              <a:spcAft>
                <a:spcPts val="0"/>
              </a:spcAft>
            </a:pPr>
            <a:r>
              <a:rPr sz="1350" i="0">
                <a:solidFill>
                  <a:srgbClr val="0F766E"/>
                </a:solidFill>
                <a:latin typeface="Consolas"/>
              </a:rPr>
              <a:t>// 3 trabalhadores, 6 tarefas: ~100 ms</a:t>
            </a:r>
          </a:p>
          <a:p>
            <a:pPr algn="l">
              <a:spcAft>
                <a:spcPts val="0"/>
              </a:spcAft>
            </a:pPr>
            <a:r>
              <a:rPr sz="1350"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350" i="0">
                <a:solidFill>
                  <a:srgbClr val="111827"/>
                </a:solidFill>
                <a:latin typeface="Consolas"/>
              </a:rPr>
              <a:t>select {                                  </a:t>
            </a:r>
            <a:r>
              <a:rPr sz="1350" i="0">
                <a:solidFill>
                  <a:srgbClr val="0F766E"/>
                </a:solidFill>
                <a:latin typeface="Consolas"/>
              </a:rPr>
              <a:t>// comando protegido</a:t>
            </a:r>
          </a:p>
          <a:p>
            <a:pPr algn="l">
              <a:spcAft>
                <a:spcPts val="0"/>
              </a:spcAft>
            </a:pPr>
            <a:r>
              <a:rPr sz="1350" i="0">
                <a:solidFill>
                  <a:srgbClr val="111827"/>
                </a:solidFill>
                <a:latin typeface="Consolas"/>
              </a:rPr>
              <a:t>case r := &lt;-lento:</a:t>
            </a:r>
          </a:p>
          <a:p>
            <a:pPr algn="l">
              <a:spcAft>
                <a:spcPts val="0"/>
              </a:spcAft>
            </a:pPr>
            <a:r>
              <a:rPr sz="1350" i="0">
                <a:solidFill>
                  <a:srgbClr val="111827"/>
                </a:solidFill>
                <a:latin typeface="Consolas"/>
              </a:rPr>
              <a:t>    fmt.Println(r)</a:t>
            </a:r>
          </a:p>
          <a:p>
            <a:pPr algn="l">
              <a:spcAft>
                <a:spcPts val="0"/>
              </a:spcAft>
            </a:pPr>
            <a:r>
              <a:rPr sz="1350" i="0">
                <a:solidFill>
                  <a:srgbClr val="111827"/>
                </a:solidFill>
                <a:latin typeface="Consolas"/>
              </a:rPr>
              <a:t>case &lt;-time.After(200 * time.Millisecond):</a:t>
            </a:r>
          </a:p>
          <a:p>
            <a:pPr algn="l">
              <a:spcAft>
                <a:spcPts val="0"/>
              </a:spcAft>
            </a:pPr>
            <a:r>
              <a:rPr sz="1350" i="0">
                <a:solidFill>
                  <a:srgbClr val="111827"/>
                </a:solidFill>
                <a:latin typeface="Consolas"/>
              </a:rPr>
              <a:t>    fmt.Println("tempo esgotado")</a:t>
            </a:r>
          </a:p>
          <a:p>
            <a:pPr algn="l">
              <a:spcAft>
                <a:spcPts val="0"/>
              </a:spcAft>
            </a:pPr>
            <a:r>
              <a:rPr sz="1350" i="0">
                <a:solidFill>
                  <a:srgbClr val="111827"/>
                </a:solidFill>
                <a:latin typeface="Consolas"/>
              </a:rP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86600" y="1325880"/>
            <a:ext cx="4553712" cy="146304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</a:rPr>
              <a:t>Grupo de trabalhadores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</a:rPr>
              <a:t>3 goroutines dividem 6 tarefas: ~100 ms em vez de 300 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86600" y="2971800"/>
            <a:ext cx="4553712" cy="146304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472" b="1">
                <a:solidFill>
                  <a:srgbClr val="1F2937"/>
                </a:solidFill>
                <a:latin typeface="Consolas"/>
              </a:rPr>
              <a:t>select</a:t>
            </a:r>
            <a:r>
              <a:rPr sz="1600" b="1">
                <a:solidFill>
                  <a:srgbClr val="1F2937"/>
                </a:solidFill>
              </a:rPr>
              <a:t> + </a:t>
            </a:r>
            <a:r>
              <a:rPr sz="1472" b="1">
                <a:solidFill>
                  <a:srgbClr val="1F2937"/>
                </a:solidFill>
                <a:latin typeface="Consolas"/>
              </a:rPr>
              <a:t>time.After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</a:rPr>
              <a:t>espera vários canais; o primeiro pronto vence, e há tempo limite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86600" y="4617720"/>
            <a:ext cx="4553712" cy="146304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472" b="1">
                <a:solidFill>
                  <a:srgbClr val="1F2937"/>
                </a:solidFill>
                <a:latin typeface="Consolas"/>
              </a:rPr>
              <a:t>go run -race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</a:rPr>
              <a:t>detecta condições de corrida durante a execução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Rust: o compilador impede a corrida de dados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exemplos/05_mensagens/mensagens.rs · exercício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6400800" cy="310896"/>
          </a:xfrm>
          <a:prstGeom prst="rect">
            <a:avLst/>
          </a:prstGeom>
          <a:noFill/>
        </p:spPr>
        <p:txBody>
          <a:bodyPr wrap="square" anchor="b" lIns="18288" rIns="18288" tIns="18288" bIns="18288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</a:rPr>
              <a:t>Rust · mensagens.rs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73352"/>
            <a:ext cx="6400800" cy="4407408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1400" i="0">
                <a:solidFill>
                  <a:srgbClr val="0F766E"/>
                </a:solidFill>
                <a:latin typeface="Consolas"/>
              </a:rPr>
              <a:t>// o dado mora DENTRO do Mutex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let contador = Arc::new(Mutex::new(0));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for _ in 0..4 {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    let c = Arc::clone(&amp;contador);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    thread::spawn(move || {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        for _ in 0..100_000 {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            *c.lock().unwrap() += 1;   </a:t>
            </a:r>
            <a:r>
              <a:rPr sz="1400" i="0">
                <a:solidFill>
                  <a:srgbClr val="0F766E"/>
                </a:solidFill>
                <a:latin typeface="Consolas"/>
              </a:rPr>
              <a:t>// sem lock, sem acesso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        }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    });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}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0F766E"/>
                </a:solidFill>
                <a:latin typeface="Consolas"/>
              </a:rPr>
              <a:t>// contador = 400000, sempre</a:t>
            </a:r>
          </a:p>
          <a:p>
            <a:pPr algn="l">
              <a:spcAft>
                <a:spcPts val="0"/>
              </a:spcAft>
            </a:pPr>
            <a:r>
              <a:rPr sz="1400"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0F766E"/>
                </a:solidFill>
                <a:latin typeface="Consolas"/>
              </a:rPr>
              <a:t>// let mut x = 0;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0F766E"/>
                </a:solidFill>
                <a:latin typeface="Consolas"/>
              </a:rPr>
              <a:t>// thread::spawn(|| x += 1);  // ERRO de compilação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0F766E"/>
                </a:solidFill>
                <a:latin typeface="Consolas"/>
              </a:rPr>
              <a:t>// Rc no lugar de Arc: ERRO, Rc não é Send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78040" y="1325880"/>
            <a:ext cx="4462272" cy="146304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</a:rPr>
              <a:t>Send e Sync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</a:rPr>
              <a:t>o compilador sabe o que pode ir para outra thread e o que pode ser compartilhado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78040" y="2971800"/>
            <a:ext cx="4462272" cy="146304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472" b="1">
                <a:solidFill>
                  <a:srgbClr val="1F2937"/>
                </a:solidFill>
                <a:latin typeface="Consolas"/>
              </a:rPr>
              <a:t>Arc&lt;Mutex&lt;T&gt;&gt;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</a:rPr>
              <a:t>o dado fica dentro da trava: impossível esquecer de travar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78040" y="4617720"/>
            <a:ext cx="4462272" cy="146304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</a:rPr>
              <a:t>Limite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</a:rPr>
              <a:t>corrida de dados vira erro de compilação, mas impasses ainda são possíveis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JavaScript: uma thread e um laço de eventos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exemplos/06_async · event_loop.js, async.js, assincrono.py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5852160" cy="310896"/>
          </a:xfrm>
          <a:prstGeom prst="rect">
            <a:avLst/>
          </a:prstGeom>
          <a:noFill/>
        </p:spPr>
        <p:txBody>
          <a:bodyPr wrap="square" anchor="b" lIns="18288" rIns="18288" tIns="18288" bIns="18288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</a:rPr>
              <a:t>event_loop.js · qual a ordem?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73352"/>
            <a:ext cx="5852160" cy="2167128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console.log("1: início");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setTimeout(() =&gt; console.log("4: setTimeout"), 0);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Promise.resolve().then(() =&gt; console.log("3: promise"));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111827"/>
                </a:solidFill>
                <a:latin typeface="Consolas"/>
              </a:rPr>
              <a:t>console.log("2: fim do código síncrono");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0F766E"/>
                </a:solidFill>
                <a:latin typeface="Consolas"/>
              </a:rPr>
              <a:t>// ordem: 1, 2, 3,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77639"/>
            <a:ext cx="5852160" cy="310896"/>
          </a:xfrm>
          <a:prstGeom prst="rect">
            <a:avLst/>
          </a:prstGeom>
          <a:noFill/>
        </p:spPr>
        <p:txBody>
          <a:bodyPr wrap="square" anchor="b" lIns="18288" rIns="18288" tIns="18288" bIns="18288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</a:rPr>
              <a:t>async.js · sequencial × concorrente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325112"/>
            <a:ext cx="5852160" cy="1755648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1350" i="0">
                <a:solidFill>
                  <a:srgbClr val="111827"/>
                </a:solidFill>
                <a:latin typeface="Consolas"/>
              </a:rPr>
              <a:t>await espera(300); await espera(300); await espera(300);</a:t>
            </a:r>
          </a:p>
          <a:p>
            <a:pPr algn="l">
              <a:spcAft>
                <a:spcPts val="0"/>
              </a:spcAft>
            </a:pPr>
            <a:r>
              <a:rPr sz="1350" i="0">
                <a:solidFill>
                  <a:srgbClr val="0F766E"/>
                </a:solidFill>
                <a:latin typeface="Consolas"/>
              </a:rPr>
              <a:t>// ~900 ms</a:t>
            </a:r>
          </a:p>
          <a:p>
            <a:pPr algn="l">
              <a:spcAft>
                <a:spcPts val="0"/>
              </a:spcAft>
            </a:pPr>
            <a:r>
              <a:rPr sz="1350" i="0">
                <a:solidFill>
                  <a:srgbClr val="111827"/>
                </a:solidFill>
                <a:latin typeface="Consolas"/>
              </a:rPr>
              <a:t>await Promise.all([espera(300), espera(300), espera(300)]);</a:t>
            </a:r>
          </a:p>
          <a:p>
            <a:pPr algn="l">
              <a:spcAft>
                <a:spcPts val="0"/>
              </a:spcAft>
            </a:pPr>
            <a:r>
              <a:rPr sz="1350" i="0">
                <a:solidFill>
                  <a:srgbClr val="0F766E"/>
                </a:solidFill>
                <a:latin typeface="Consolas"/>
              </a:rPr>
              <a:t>// ~300 ms, com UMA só thread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1325880"/>
            <a:ext cx="5010912" cy="105156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</a:rPr>
              <a:t>Uma thread, um laço de eventos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</a:rPr>
              <a:t>a E/S acontece "por fora"; os callbacks entram numa fila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2487168"/>
            <a:ext cx="5010912" cy="105156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</a:rPr>
              <a:t>Microtarefas antes de tarefas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</a:rPr>
              <a:t>promises rodam antes de </a:t>
            </a:r>
            <a:r>
              <a:rPr sz="1288" b="0">
                <a:solidFill>
                  <a:srgbClr val="1F2937"/>
                </a:solidFill>
                <a:latin typeface="Consolas"/>
              </a:rPr>
              <a:t>setTimeout</a:t>
            </a:r>
            <a:r>
              <a:rPr sz="1400" b="0">
                <a:solidFill>
                  <a:srgbClr val="1F2937"/>
                </a:solidFill>
              </a:rPr>
              <a:t>, mesmo com tempo 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3648456"/>
            <a:ext cx="5010912" cy="105156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</a:rPr>
              <a:t>Não trave o laço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</a:rPr>
              <a:t>um laço ocupado de 200 ms atrasa tudo, e a página congela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4809744"/>
            <a:ext cx="5010912" cy="105156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</a:rPr>
              <a:t>Concorrência ≠ paralelismo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</a:rPr>
              <a:t>async intercala esperas; paralelismo exige vários núcleos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Síntese dos modelos de concorrência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Sebesta, 11ª ed. · Cap. 13 · p. 541-594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11091672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377440"/>
                <a:gridCol w="2743200"/>
                <a:gridCol w="3291840"/>
                <a:gridCol w="2679192"/>
              </a:tblGrid>
              <a:tr h="60350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</a:rPr>
                        <a:t>Modelo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</a:rPr>
                        <a:t>Linguagens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</a:rPr>
                        <a:t>Como evita a corrida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</a:rPr>
                        <a:t>O que ainda pode dar errado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E6F4F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Threads + travas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Java, C#, C++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88" b="0">
                          <a:solidFill>
                            <a:srgbClr val="1F2937"/>
                          </a:solidFill>
                          <a:latin typeface="Consolas"/>
                        </a:rPr>
                        <a:t>synchronized</a:t>
                      </a:r>
                      <a:r>
                        <a:rPr sz="1400" b="0">
                          <a:solidFill>
                            <a:srgbClr val="1F2937"/>
                          </a:solidFill>
                        </a:rPr>
                        <a:t>, </a:t>
                      </a:r>
                      <a:r>
                        <a:rPr sz="1288" b="0">
                          <a:solidFill>
                            <a:srgbClr val="1F2937"/>
                          </a:solidFill>
                          <a:latin typeface="Consolas"/>
                        </a:rPr>
                        <a:t>lock</a:t>
                      </a:r>
                      <a:r>
                        <a:rPr sz="1400" b="0">
                          <a:solidFill>
                            <a:srgbClr val="1F2937"/>
                          </a:solidFill>
                        </a:rPr>
                        <a:t>, atômicos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esquecer a trava; impasse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Mensagens (CSP)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Go, Ada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canais: nada compartilhado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impasse em canais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Atores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Erlang, Elixir, Akka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estado privado + mensagens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caixa de mensagens lotada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Laço de eventos / async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JS, Python, Rust (tokio)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uma só thread por vez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travar o laço; sem paralelismo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Tipos e posse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Rust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o compilador recusa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impasse (ainda)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Paralelismo de dados (13.10)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HPF, OpenMP, streams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partes independentes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</a:rPr>
                        <a:t>dados que não são independentes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Exercício em duplas (15 min): o que acontece?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Arquivos: exemplos/07_exercicio · execute em onecompiler.com (rode mais de uma vez!)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61872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F2937"/>
                </a:solidFill>
              </a:rPr>
              <a:t>Para cada trecho: </a:t>
            </a:r>
            <a:r>
              <a:rPr sz="1700" b="1">
                <a:solidFill>
                  <a:srgbClr val="1F2937"/>
                </a:solidFill>
              </a:rPr>
              <a:t>(a)</a:t>
            </a:r>
            <a:r>
              <a:rPr sz="1700" b="0">
                <a:solidFill>
                  <a:srgbClr val="1F2937"/>
                </a:solidFill>
              </a:rPr>
              <a:t> o que é impresso ou o que acontece?  </a:t>
            </a:r>
            <a:r>
              <a:rPr sz="1700" b="1">
                <a:solidFill>
                  <a:srgbClr val="1F2937"/>
                </a:solidFill>
              </a:rPr>
              <a:t>(b)</a:t>
            </a:r>
            <a:r>
              <a:rPr sz="1700" b="0">
                <a:solidFill>
                  <a:srgbClr val="1F2937"/>
                </a:solidFill>
              </a:rPr>
              <a:t> qual é o problema e como corrigir?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5410047" cy="310896"/>
          </a:xfrm>
          <a:prstGeom prst="rect">
            <a:avLst/>
          </a:prstGeom>
          <a:noFill/>
        </p:spPr>
        <p:txBody>
          <a:bodyPr wrap="square" anchor="b" lIns="18288" rIns="18288" tIns="18288" bIns="18288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</a:rPr>
              <a:t>1 · Java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67712"/>
            <a:ext cx="5410047" cy="3675888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1550" i="0">
                <a:solidFill>
                  <a:srgbClr val="111827"/>
                </a:solidFill>
                <a:latin typeface="Consolas"/>
              </a:rPr>
              <a:t>static int vendas = 0;</a:t>
            </a:r>
          </a:p>
          <a:p>
            <a:pPr algn="l">
              <a:spcAft>
                <a:spcPts val="0"/>
              </a:spcAft>
            </a:pPr>
            <a:r>
              <a:rPr sz="1550"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550" i="0">
                <a:solidFill>
                  <a:srgbClr val="111827"/>
                </a:solidFill>
                <a:latin typeface="Consolas"/>
              </a:rPr>
              <a:t>Runnable caixa = () -&gt; {</a:t>
            </a:r>
          </a:p>
          <a:p>
            <a:pPr algn="l">
              <a:spcAft>
                <a:spcPts val="0"/>
              </a:spcAft>
            </a:pPr>
            <a:r>
              <a:rPr sz="1550" i="0">
                <a:solidFill>
                  <a:srgbClr val="111827"/>
                </a:solidFill>
                <a:latin typeface="Consolas"/>
              </a:rPr>
              <a:t>    for (int i = 0; i &lt; 100_000; i++)</a:t>
            </a:r>
          </a:p>
          <a:p>
            <a:pPr algn="l">
              <a:spcAft>
                <a:spcPts val="0"/>
              </a:spcAft>
            </a:pPr>
            <a:r>
              <a:rPr sz="1550" i="0">
                <a:solidFill>
                  <a:srgbClr val="111827"/>
                </a:solidFill>
                <a:latin typeface="Consolas"/>
              </a:rPr>
              <a:t>        vendas++;</a:t>
            </a:r>
          </a:p>
          <a:p>
            <a:pPr algn="l">
              <a:spcAft>
                <a:spcPts val="0"/>
              </a:spcAft>
            </a:pPr>
            <a:r>
              <a:rPr sz="1550" i="0">
                <a:solidFill>
                  <a:srgbClr val="111827"/>
                </a:solidFill>
                <a:latin typeface="Consolas"/>
              </a:rPr>
              <a:t>};</a:t>
            </a:r>
          </a:p>
          <a:p>
            <a:pPr algn="l">
              <a:spcAft>
                <a:spcPts val="0"/>
              </a:spcAft>
            </a:pPr>
            <a:r>
              <a:rPr sz="1550" i="0">
                <a:solidFill>
                  <a:srgbClr val="111827"/>
                </a:solidFill>
                <a:latin typeface="Consolas"/>
              </a:rPr>
              <a:t>Thread a = new Thread(caixa);</a:t>
            </a:r>
          </a:p>
          <a:p>
            <a:pPr algn="l">
              <a:spcAft>
                <a:spcPts val="0"/>
              </a:spcAft>
            </a:pPr>
            <a:r>
              <a:rPr sz="1550" i="0">
                <a:solidFill>
                  <a:srgbClr val="111827"/>
                </a:solidFill>
                <a:latin typeface="Consolas"/>
              </a:rPr>
              <a:t>Thread b = new Thread(caixa);</a:t>
            </a:r>
          </a:p>
          <a:p>
            <a:pPr algn="l">
              <a:spcAft>
                <a:spcPts val="0"/>
              </a:spcAft>
            </a:pPr>
            <a:r>
              <a:rPr sz="1550" i="0">
                <a:solidFill>
                  <a:srgbClr val="111827"/>
                </a:solidFill>
                <a:latin typeface="Consolas"/>
              </a:rPr>
              <a:t>a.start(); b.start();</a:t>
            </a:r>
          </a:p>
          <a:p>
            <a:pPr algn="l">
              <a:spcAft>
                <a:spcPts val="0"/>
              </a:spcAft>
            </a:pPr>
            <a:r>
              <a:rPr sz="1550" i="0">
                <a:solidFill>
                  <a:srgbClr val="111827"/>
                </a:solidFill>
                <a:latin typeface="Consolas"/>
              </a:rPr>
              <a:t>a.join(); b.join();</a:t>
            </a:r>
          </a:p>
          <a:p>
            <a:pPr algn="l">
              <a:spcAft>
                <a:spcPts val="0"/>
              </a:spcAft>
            </a:pPr>
            <a:r>
              <a:rPr sz="1550" i="0">
                <a:solidFill>
                  <a:srgbClr val="111827"/>
                </a:solidFill>
                <a:latin typeface="Consolas"/>
              </a:rPr>
              <a:t>System.out.println(vendas);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3007" y="1920240"/>
            <a:ext cx="5410047" cy="310896"/>
          </a:xfrm>
          <a:prstGeom prst="rect">
            <a:avLst/>
          </a:prstGeom>
          <a:noFill/>
        </p:spPr>
        <p:txBody>
          <a:bodyPr wrap="square" anchor="b" lIns="18288" rIns="18288" tIns="18288" bIns="18288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</a:rPr>
              <a:t>2 · Go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2267712"/>
            <a:ext cx="5410047" cy="3675888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1550" i="0">
                <a:solidFill>
                  <a:srgbClr val="111827"/>
                </a:solidFill>
                <a:latin typeface="Consolas"/>
              </a:rPr>
              <a:t>func main() {</a:t>
            </a:r>
          </a:p>
          <a:p>
            <a:pPr algn="l">
              <a:spcAft>
                <a:spcPts val="0"/>
              </a:spcAft>
            </a:pPr>
            <a:r>
              <a:rPr sz="1550" i="0">
                <a:solidFill>
                  <a:srgbClr val="111827"/>
                </a:solidFill>
                <a:latin typeface="Consolas"/>
              </a:rPr>
              <a:t>    for i := 0; i &lt; 3; i++ {</a:t>
            </a:r>
          </a:p>
          <a:p>
            <a:pPr algn="l">
              <a:spcAft>
                <a:spcPts val="0"/>
              </a:spcAft>
            </a:pPr>
            <a:r>
              <a:rPr sz="1550" i="0">
                <a:solidFill>
                  <a:srgbClr val="111827"/>
                </a:solidFill>
                <a:latin typeface="Consolas"/>
              </a:rPr>
              <a:t>        go fmt.Println("goroutine", i)</a:t>
            </a:r>
          </a:p>
          <a:p>
            <a:pPr algn="l">
              <a:spcAft>
                <a:spcPts val="0"/>
              </a:spcAft>
            </a:pPr>
            <a:r>
              <a:rPr sz="1550" i="0">
                <a:solidFill>
                  <a:srgbClr val="111827"/>
                </a:solidFill>
                <a:latin typeface="Consolas"/>
              </a:rPr>
              <a:t>    }</a:t>
            </a:r>
          </a:p>
          <a:p>
            <a:pPr algn="l">
              <a:spcAft>
                <a:spcPts val="0"/>
              </a:spcAft>
            </a:pPr>
            <a:r>
              <a:rPr sz="1550" i="0">
                <a:solidFill>
                  <a:srgbClr val="111827"/>
                </a:solidFill>
                <a:latin typeface="Consolas"/>
              </a:rPr>
              <a:t>    fmt.Println("fim do main")</a:t>
            </a:r>
          </a:p>
          <a:p>
            <a:pPr algn="l">
              <a:spcAft>
                <a:spcPts val="0"/>
              </a:spcAft>
            </a:pPr>
            <a:r>
              <a:rPr sz="1550" i="0">
                <a:solidFill>
                  <a:srgbClr val="11182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Exercício: o que acontece?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Arquivos: exemplos/07_exercicio · execute em onecompiler.com (rode mais de uma vez!)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61872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F2937"/>
                </a:solidFill>
              </a:rPr>
              <a:t>Para cada trecho: </a:t>
            </a:r>
            <a:r>
              <a:rPr sz="1700" b="1">
                <a:solidFill>
                  <a:srgbClr val="1F2937"/>
                </a:solidFill>
              </a:rPr>
              <a:t>(a)</a:t>
            </a:r>
            <a:r>
              <a:rPr sz="1700" b="0">
                <a:solidFill>
                  <a:srgbClr val="1F2937"/>
                </a:solidFill>
              </a:rPr>
              <a:t> o que é impresso ou o que acontece?  </a:t>
            </a:r>
            <a:r>
              <a:rPr sz="1700" b="1">
                <a:solidFill>
                  <a:srgbClr val="1F2937"/>
                </a:solidFill>
              </a:rPr>
              <a:t>(b)</a:t>
            </a:r>
            <a:r>
              <a:rPr sz="1700" b="0">
                <a:solidFill>
                  <a:srgbClr val="1F2937"/>
                </a:solidFill>
              </a:rPr>
              <a:t> qual é o problema e como corrigir?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5410047" cy="310896"/>
          </a:xfrm>
          <a:prstGeom prst="rect">
            <a:avLst/>
          </a:prstGeom>
          <a:noFill/>
        </p:spPr>
        <p:txBody>
          <a:bodyPr wrap="square" anchor="b" lIns="18288" rIns="18288" tIns="18288" bIns="18288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</a:rPr>
              <a:t>3 · JavaScript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67712"/>
            <a:ext cx="5410047" cy="3675888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1550" i="0">
                <a:solidFill>
                  <a:srgbClr val="111827"/>
                </a:solidFill>
                <a:latin typeface="Consolas"/>
              </a:rPr>
              <a:t>console.log("A");</a:t>
            </a:r>
          </a:p>
          <a:p>
            <a:pPr algn="l">
              <a:spcAft>
                <a:spcPts val="0"/>
              </a:spcAft>
            </a:pPr>
            <a:r>
              <a:rPr sz="1550" i="0">
                <a:solidFill>
                  <a:srgbClr val="111827"/>
                </a:solidFill>
                <a:latin typeface="Consolas"/>
              </a:rPr>
              <a:t>setTimeout(() =&gt; console.log("B"), 0);</a:t>
            </a:r>
          </a:p>
          <a:p>
            <a:pPr algn="l">
              <a:spcAft>
                <a:spcPts val="0"/>
              </a:spcAft>
            </a:pPr>
            <a:r>
              <a:rPr sz="1550" i="0">
                <a:solidFill>
                  <a:srgbClr val="111827"/>
                </a:solidFill>
                <a:latin typeface="Consolas"/>
              </a:rPr>
              <a:t>Promise.resolve().then(() =&gt; console.log("C"));</a:t>
            </a:r>
          </a:p>
          <a:p>
            <a:pPr algn="l">
              <a:spcAft>
                <a:spcPts val="0"/>
              </a:spcAft>
            </a:pPr>
            <a:r>
              <a:rPr sz="1550" i="0">
                <a:solidFill>
                  <a:srgbClr val="111827"/>
                </a:solidFill>
                <a:latin typeface="Consolas"/>
              </a:rPr>
              <a:t>console.log("D");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3007" y="1920240"/>
            <a:ext cx="5410047" cy="310896"/>
          </a:xfrm>
          <a:prstGeom prst="rect">
            <a:avLst/>
          </a:prstGeom>
          <a:noFill/>
        </p:spPr>
        <p:txBody>
          <a:bodyPr wrap="square" anchor="b" lIns="18288" rIns="18288" tIns="18288" bIns="18288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</a:rPr>
              <a:t>4 · Java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2267712"/>
            <a:ext cx="5410047" cy="3675888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1550" i="0">
                <a:solidFill>
                  <a:srgbClr val="111827"/>
                </a:solidFill>
                <a:latin typeface="Consolas"/>
              </a:rPr>
              <a:t>void transferir(Conta de, Conta para, int v) {</a:t>
            </a:r>
          </a:p>
          <a:p>
            <a:pPr algn="l">
              <a:spcAft>
                <a:spcPts val="0"/>
              </a:spcAft>
            </a:pPr>
            <a:r>
              <a:rPr sz="1550" i="0">
                <a:solidFill>
                  <a:srgbClr val="111827"/>
                </a:solidFill>
                <a:latin typeface="Consolas"/>
              </a:rPr>
              <a:t>    synchronized (de) {</a:t>
            </a:r>
          </a:p>
          <a:p>
            <a:pPr algn="l">
              <a:spcAft>
                <a:spcPts val="0"/>
              </a:spcAft>
            </a:pPr>
            <a:r>
              <a:rPr sz="1550" i="0">
                <a:solidFill>
                  <a:srgbClr val="111827"/>
                </a:solidFill>
                <a:latin typeface="Consolas"/>
              </a:rPr>
              <a:t>        dorme(50);</a:t>
            </a:r>
          </a:p>
          <a:p>
            <a:pPr algn="l">
              <a:spcAft>
                <a:spcPts val="0"/>
              </a:spcAft>
            </a:pPr>
            <a:r>
              <a:rPr sz="1550" i="0">
                <a:solidFill>
                  <a:srgbClr val="111827"/>
                </a:solidFill>
                <a:latin typeface="Consolas"/>
              </a:rPr>
              <a:t>        synchronized (para) {</a:t>
            </a:r>
          </a:p>
          <a:p>
            <a:pPr algn="l">
              <a:spcAft>
                <a:spcPts val="0"/>
              </a:spcAft>
            </a:pPr>
            <a:r>
              <a:rPr sz="1550" i="0">
                <a:solidFill>
                  <a:srgbClr val="111827"/>
                </a:solidFill>
                <a:latin typeface="Consolas"/>
              </a:rPr>
              <a:t>            de.saldo -= v;</a:t>
            </a:r>
          </a:p>
          <a:p>
            <a:pPr algn="l">
              <a:spcAft>
                <a:spcPts val="0"/>
              </a:spcAft>
            </a:pPr>
            <a:r>
              <a:rPr sz="1550" i="0">
                <a:solidFill>
                  <a:srgbClr val="111827"/>
                </a:solidFill>
                <a:latin typeface="Consolas"/>
              </a:rPr>
              <a:t>            para.saldo += v;</a:t>
            </a:r>
          </a:p>
          <a:p>
            <a:pPr algn="l">
              <a:spcAft>
                <a:spcPts val="0"/>
              </a:spcAft>
            </a:pPr>
            <a:r>
              <a:rPr sz="1550" i="0">
                <a:solidFill>
                  <a:srgbClr val="111827"/>
                </a:solidFill>
                <a:latin typeface="Consolas"/>
              </a:rPr>
              <a:t>        }</a:t>
            </a:r>
          </a:p>
          <a:p>
            <a:pPr algn="l">
              <a:spcAft>
                <a:spcPts val="0"/>
              </a:spcAft>
            </a:pPr>
            <a:r>
              <a:rPr sz="1550" i="0">
                <a:solidFill>
                  <a:srgbClr val="111827"/>
                </a:solidFill>
                <a:latin typeface="Consolas"/>
              </a:rPr>
              <a:t>    }</a:t>
            </a:r>
          </a:p>
          <a:p>
            <a:pPr algn="l">
              <a:spcAft>
                <a:spcPts val="0"/>
              </a:spcAft>
            </a:pPr>
            <a:r>
              <a:rPr sz="1550" i="0">
                <a:solidFill>
                  <a:srgbClr val="111827"/>
                </a:solidFill>
                <a:latin typeface="Consolas"/>
              </a:rPr>
              <a:t>}</a:t>
            </a:r>
          </a:p>
          <a:p>
            <a:pPr algn="l">
              <a:spcAft>
                <a:spcPts val="0"/>
              </a:spcAft>
            </a:pPr>
            <a:r>
              <a:rPr sz="1550" i="0">
                <a:solidFill>
                  <a:srgbClr val="0F766E"/>
                </a:solidFill>
                <a:latin typeface="Consolas"/>
              </a:rPr>
              <a:t>// duas threads ao mesmo tempo:</a:t>
            </a:r>
          </a:p>
          <a:p>
            <a:pPr algn="l">
              <a:spcAft>
                <a:spcPts val="0"/>
              </a:spcAft>
            </a:pPr>
            <a:r>
              <a:rPr sz="1550" i="0">
                <a:solidFill>
                  <a:srgbClr val="111827"/>
                </a:solidFill>
                <a:latin typeface="Consolas"/>
              </a:rPr>
              <a:t>transferir(a, b, 10);   </a:t>
            </a:r>
            <a:r>
              <a:rPr sz="1550" i="0">
                <a:solidFill>
                  <a:srgbClr val="0F766E"/>
                </a:solidFill>
                <a:latin typeface="Consolas"/>
              </a:rPr>
              <a:t>// e</a:t>
            </a:r>
          </a:p>
          <a:p>
            <a:pPr algn="l">
              <a:spcAft>
                <a:spcPts val="0"/>
              </a:spcAft>
            </a:pPr>
            <a:r>
              <a:rPr sz="1550" i="0">
                <a:solidFill>
                  <a:srgbClr val="111827"/>
                </a:solidFill>
                <a:latin typeface="Consolas"/>
              </a:rPr>
              <a:t>transferir(b, a, 20);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Exercício: o que acontece?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Arquivos: exemplos/07_exercicio · execute em onecompiler.com (rode mais de uma vez!)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61872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F2937"/>
                </a:solidFill>
              </a:rPr>
              <a:t>Para cada trecho: </a:t>
            </a:r>
            <a:r>
              <a:rPr sz="1700" b="1">
                <a:solidFill>
                  <a:srgbClr val="1F2937"/>
                </a:solidFill>
              </a:rPr>
              <a:t>(a)</a:t>
            </a:r>
            <a:r>
              <a:rPr sz="1700" b="0">
                <a:solidFill>
                  <a:srgbClr val="1F2937"/>
                </a:solidFill>
              </a:rPr>
              <a:t> o que é impresso ou o que acontece?  </a:t>
            </a:r>
            <a:r>
              <a:rPr sz="1700" b="1">
                <a:solidFill>
                  <a:srgbClr val="1F2937"/>
                </a:solidFill>
              </a:rPr>
              <a:t>(b)</a:t>
            </a:r>
            <a:r>
              <a:rPr sz="1700" b="0">
                <a:solidFill>
                  <a:srgbClr val="1F2937"/>
                </a:solidFill>
              </a:rPr>
              <a:t> qual é o problema e como corrigir?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5410047" cy="310896"/>
          </a:xfrm>
          <a:prstGeom prst="rect">
            <a:avLst/>
          </a:prstGeom>
          <a:noFill/>
        </p:spPr>
        <p:txBody>
          <a:bodyPr wrap="square" anchor="b" lIns="18288" rIns="18288" tIns="18288" bIns="18288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</a:rPr>
              <a:t>5 · Rust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67712"/>
            <a:ext cx="5410047" cy="3675888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1550" i="0">
                <a:solidFill>
                  <a:srgbClr val="111827"/>
                </a:solidFill>
                <a:latin typeface="Consolas"/>
              </a:rPr>
              <a:t>let mut contador = 0;</a:t>
            </a:r>
          </a:p>
          <a:p>
            <a:pPr algn="l">
              <a:spcAft>
                <a:spcPts val="0"/>
              </a:spcAft>
            </a:pPr>
            <a:r>
              <a:rPr sz="1550" i="0">
                <a:solidFill>
                  <a:srgbClr val="111827"/>
                </a:solidFill>
                <a:latin typeface="Consolas"/>
              </a:rPr>
              <a:t>let t = thread::spawn(|| {</a:t>
            </a:r>
          </a:p>
          <a:p>
            <a:pPr algn="l">
              <a:spcAft>
                <a:spcPts val="0"/>
              </a:spcAft>
            </a:pPr>
            <a:r>
              <a:rPr sz="1550" i="0">
                <a:solidFill>
                  <a:srgbClr val="111827"/>
                </a:solidFill>
                <a:latin typeface="Consolas"/>
              </a:rPr>
              <a:t>    contador += 1;</a:t>
            </a:r>
          </a:p>
          <a:p>
            <a:pPr algn="l">
              <a:spcAft>
                <a:spcPts val="0"/>
              </a:spcAft>
            </a:pPr>
            <a:r>
              <a:rPr sz="1550" i="0">
                <a:solidFill>
                  <a:srgbClr val="111827"/>
                </a:solidFill>
                <a:latin typeface="Consolas"/>
              </a:rPr>
              <a:t>});</a:t>
            </a:r>
          </a:p>
          <a:p>
            <a:pPr algn="l">
              <a:spcAft>
                <a:spcPts val="0"/>
              </a:spcAft>
            </a:pPr>
            <a:r>
              <a:rPr sz="1550" i="0">
                <a:solidFill>
                  <a:srgbClr val="111827"/>
                </a:solidFill>
                <a:latin typeface="Consolas"/>
              </a:rPr>
              <a:t>t.join().unwrap();</a:t>
            </a:r>
          </a:p>
          <a:p>
            <a:pPr algn="l">
              <a:spcAft>
                <a:spcPts val="0"/>
              </a:spcAft>
            </a:pPr>
            <a:r>
              <a:rPr sz="1550" i="0">
                <a:solidFill>
                  <a:srgbClr val="111827"/>
                </a:solidFill>
                <a:latin typeface="Consolas"/>
              </a:rPr>
              <a:t>println!("{}", contador);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3007" y="1920240"/>
            <a:ext cx="5410047" cy="310896"/>
          </a:xfrm>
          <a:prstGeom prst="rect">
            <a:avLst/>
          </a:prstGeom>
          <a:noFill/>
        </p:spPr>
        <p:txBody>
          <a:bodyPr wrap="square" anchor="b" lIns="18288" rIns="18288" tIns="18288" bIns="18288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</a:rPr>
              <a:t>6 · Go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2267712"/>
            <a:ext cx="5410047" cy="3675888"/>
          </a:xfrm>
          <a:prstGeom prst="rect">
            <a:avLst/>
          </a:prstGeom>
          <a:solidFill>
            <a:srgbClr val="F3F4F6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1550" i="0">
                <a:solidFill>
                  <a:srgbClr val="111827"/>
                </a:solidFill>
                <a:latin typeface="Consolas"/>
              </a:rPr>
              <a:t>func main() {</a:t>
            </a:r>
          </a:p>
          <a:p>
            <a:pPr algn="l">
              <a:spcAft>
                <a:spcPts val="0"/>
              </a:spcAft>
            </a:pPr>
            <a:r>
              <a:rPr sz="1550" i="0">
                <a:solidFill>
                  <a:srgbClr val="111827"/>
                </a:solidFill>
                <a:latin typeface="Consolas"/>
              </a:rPr>
              <a:t>    ch := make(chan int)</a:t>
            </a:r>
          </a:p>
          <a:p>
            <a:pPr algn="l">
              <a:spcAft>
                <a:spcPts val="0"/>
              </a:spcAft>
            </a:pPr>
            <a:r>
              <a:rPr sz="1550" i="0">
                <a:solidFill>
                  <a:srgbClr val="111827"/>
                </a:solidFill>
                <a:latin typeface="Consolas"/>
              </a:rPr>
              <a:t>    ch &lt;- 1</a:t>
            </a:r>
          </a:p>
          <a:p>
            <a:pPr algn="l">
              <a:spcAft>
                <a:spcPts val="0"/>
              </a:spcAft>
            </a:pPr>
            <a:r>
              <a:rPr sz="1550" i="0">
                <a:solidFill>
                  <a:srgbClr val="111827"/>
                </a:solidFill>
                <a:latin typeface="Consolas"/>
              </a:rPr>
              <a:t>    fmt.Println(&lt;-ch)</a:t>
            </a:r>
          </a:p>
          <a:p>
            <a:pPr algn="l">
              <a:spcAft>
                <a:spcPts val="0"/>
              </a:spcAft>
            </a:pPr>
            <a:r>
              <a:rPr sz="1550" i="0">
                <a:solidFill>
                  <a:srgbClr val="11182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Síntese: problemas de concorrência e ferramentas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Sebesta, 11ª ed. · Cap. 13 · p. 541-594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1109167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377440"/>
                <a:gridCol w="4297680"/>
                <a:gridCol w="4416552"/>
              </a:tblGrid>
              <a:tr h="65836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F2937"/>
                          </a:solidFill>
                        </a:rPr>
                        <a:t>Problema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F2937"/>
                          </a:solidFill>
                        </a:rPr>
                        <a:t>Causa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F2937"/>
                          </a:solidFill>
                        </a:rPr>
                        <a:t>Ferramentas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E6F4F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Condição de corrida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dado compartilhado, com escrita, sem sincronização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travas, atômicos, monitores, mensagens, Rust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Impasse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espera circular por recursos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ordem fixa de travas, </a:t>
                      </a:r>
                      <a:r>
                        <a:rPr sz="1380" b="0">
                          <a:solidFill>
                            <a:srgbClr val="1F2937"/>
                          </a:solidFill>
                          <a:latin typeface="Consolas"/>
                        </a:rPr>
                        <a:t>tryLock</a:t>
                      </a:r>
                      <a:r>
                        <a:rPr sz="1500" b="0">
                          <a:solidFill>
                            <a:srgbClr val="1F2937"/>
                          </a:solidFill>
                        </a:rPr>
                        <a:t>, mensagens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Inversão de prioridade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 tarefa baixa segura o recurso da alta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herança de prioridade (Mars Pathfinder)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Laço de eventos travado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trabalho pesado na única thread (JS)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80" b="0">
                          <a:solidFill>
                            <a:srgbClr val="1F2937"/>
                          </a:solidFill>
                          <a:latin typeface="Consolas"/>
                        </a:rPr>
                        <a:t>async</a:t>
                      </a:r>
                      <a:r>
                        <a:rPr sz="1500" b="0">
                          <a:solidFill>
                            <a:srgbClr val="1F2937"/>
                          </a:solidFill>
                        </a:rPr>
                        <a:t>, Web Workers, dividir o trabalho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Tarefas que não terminam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80" b="0">
                          <a:solidFill>
                            <a:srgbClr val="1F2937"/>
                          </a:solidFill>
                          <a:latin typeface="Consolas"/>
                        </a:rPr>
                        <a:t>main</a:t>
                      </a:r>
                      <a:r>
                        <a:rPr sz="1500" b="0">
                          <a:solidFill>
                            <a:srgbClr val="1F2937"/>
                          </a:solidFill>
                        </a:rPr>
                        <a:t> acaba antes das goroutines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80" b="0">
                          <a:solidFill>
                            <a:srgbClr val="1F2937"/>
                          </a:solidFill>
                          <a:latin typeface="Consolas"/>
                        </a:rPr>
                        <a:t>join</a:t>
                      </a:r>
                      <a:r>
                        <a:rPr sz="1500" b="0">
                          <a:solidFill>
                            <a:srgbClr val="1F2937"/>
                          </a:solidFill>
                        </a:rPr>
                        <a:t>, </a:t>
                      </a:r>
                      <a:r>
                        <a:rPr sz="1380" b="0">
                          <a:solidFill>
                            <a:srgbClr val="1F2937"/>
                          </a:solidFill>
                          <a:latin typeface="Consolas"/>
                        </a:rPr>
                        <a:t>WaitGroup</a:t>
                      </a:r>
                      <a:r>
                        <a:rPr sz="1500" b="0">
                          <a:solidFill>
                            <a:srgbClr val="1F2937"/>
                          </a:solidFill>
                        </a:rPr>
                        <a:t>, </a:t>
                      </a:r>
                      <a:r>
                        <a:rPr sz="1380" b="0">
                          <a:solidFill>
                            <a:srgbClr val="1F2937"/>
                          </a:solidFill>
                          <a:latin typeface="Consolas"/>
                        </a:rPr>
                        <a:t>await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Atividades complementares (autopesquisa)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67085"/>
                </a:solidFill>
              </a:rPr>
              <a:t>Sebesta, 11ª ed. · §13.6-13.10 · exemplos/08_autopesquisa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6766560" cy="4754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56032" indent="-219456">
              <a:spcAft>
                <a:spcPts val="1100"/>
              </a:spcAft>
              <a:buClr>
                <a:srgbClr val="0F766E"/>
              </a:buClr>
              <a:buFont typeface="Arial"/>
              <a:buChar char="•"/>
            </a:pPr>
            <a:r>
              <a:rPr sz="1700" b="1">
                <a:solidFill>
                  <a:srgbClr val="1F2937"/>
                </a:solidFill>
              </a:rPr>
              <a:t>Tarefas e rendezvous em Ada</a:t>
            </a:r>
            <a:r>
              <a:rPr sz="1700" b="0">
                <a:solidFill>
                  <a:srgbClr val="1F2937"/>
                </a:solidFill>
              </a:rPr>
              <a:t> (§13.6, p. 560-568): </a:t>
            </a:r>
            <a:r>
              <a:rPr sz="1564" b="0">
                <a:solidFill>
                  <a:srgbClr val="1F2937"/>
                </a:solidFill>
                <a:latin typeface="Consolas"/>
              </a:rPr>
              <a:t>tarefas.adb</a:t>
            </a:r>
            <a:r>
              <a:rPr sz="1700" b="0">
                <a:solidFill>
                  <a:srgbClr val="1F2937"/>
                </a:solidFill>
              </a:rPr>
              <a:t> (roda no OneCompiler)</a:t>
            </a:r>
          </a:p>
          <a:p>
            <a:pPr algn="l" marL="256032" indent="-219456">
              <a:spcAft>
                <a:spcPts val="1100"/>
              </a:spcAft>
              <a:buClr>
                <a:srgbClr val="0F766E"/>
              </a:buClr>
              <a:buFont typeface="Arial"/>
              <a:buChar char="•"/>
            </a:pPr>
            <a:r>
              <a:rPr sz="1700" b="1">
                <a:solidFill>
                  <a:srgbClr val="1F2937"/>
                </a:solidFill>
              </a:rPr>
              <a:t>Linhas de execução em C#</a:t>
            </a:r>
            <a:r>
              <a:rPr sz="1700" b="0">
                <a:solidFill>
                  <a:srgbClr val="1F2937"/>
                </a:solidFill>
              </a:rPr>
              <a:t> (§13.8, p. 578-583): </a:t>
            </a:r>
            <a:r>
              <a:rPr sz="1564" b="0">
                <a:solidFill>
                  <a:srgbClr val="1F2937"/>
                </a:solidFill>
                <a:latin typeface="Consolas"/>
              </a:rPr>
              <a:t>Threads.cs</a:t>
            </a:r>
          </a:p>
          <a:p>
            <a:pPr algn="l" marL="256032" indent="-219456">
              <a:spcAft>
                <a:spcPts val="1100"/>
              </a:spcAft>
              <a:buClr>
                <a:srgbClr val="0F766E"/>
              </a:buClr>
              <a:buFont typeface="Arial"/>
              <a:buChar char="•"/>
            </a:pPr>
            <a:r>
              <a:rPr sz="1700" b="1">
                <a:solidFill>
                  <a:srgbClr val="1F2937"/>
                </a:solidFill>
              </a:rPr>
              <a:t>Concorrência em linguagens funcionais</a:t>
            </a:r>
            <a:r>
              <a:rPr sz="1700" b="0">
                <a:solidFill>
                  <a:srgbClr val="1F2937"/>
                </a:solidFill>
              </a:rPr>
              <a:t> (§13.9, p. 583-586): atores em </a:t>
            </a:r>
            <a:r>
              <a:rPr sz="1564" b="0">
                <a:solidFill>
                  <a:srgbClr val="1F2937"/>
                </a:solidFill>
                <a:latin typeface="Consolas"/>
              </a:rPr>
              <a:t>atores.exs</a:t>
            </a:r>
            <a:r>
              <a:rPr sz="1700" b="0">
                <a:solidFill>
                  <a:srgbClr val="1F2937"/>
                </a:solidFill>
              </a:rPr>
              <a:t> (Elixir)</a:t>
            </a:r>
          </a:p>
          <a:p>
            <a:pPr algn="l" marL="256032" indent="-219456">
              <a:spcAft>
                <a:spcPts val="1100"/>
              </a:spcAft>
              <a:buClr>
                <a:srgbClr val="0F766E"/>
              </a:buClr>
              <a:buFont typeface="Arial"/>
              <a:buChar char="•"/>
            </a:pPr>
            <a:r>
              <a:rPr sz="1700" b="1">
                <a:solidFill>
                  <a:srgbClr val="1F2937"/>
                </a:solidFill>
              </a:rPr>
              <a:t>Concorrência em nível de sentença</a:t>
            </a:r>
            <a:r>
              <a:rPr sz="1700" b="0">
                <a:solidFill>
                  <a:srgbClr val="1F2937"/>
                </a:solidFill>
              </a:rPr>
              <a:t> (§13.10, p. 586-590): </a:t>
            </a:r>
            <a:r>
              <a:rPr sz="1564" b="0">
                <a:solidFill>
                  <a:srgbClr val="1F2937"/>
                </a:solidFill>
                <a:latin typeface="Consolas"/>
              </a:rPr>
              <a:t>Paralelo.java</a:t>
            </a:r>
          </a:p>
          <a:p>
            <a:pPr algn="l" marL="256032" indent="-219456">
              <a:spcAft>
                <a:spcPts val="1100"/>
              </a:spcAft>
              <a:buClr>
                <a:srgbClr val="0F766E"/>
              </a:buClr>
              <a:buFont typeface="Arial"/>
              <a:buChar char="•"/>
            </a:pPr>
            <a:r>
              <a:rPr sz="1700" b="1">
                <a:solidFill>
                  <a:srgbClr val="1F2937"/>
                </a:solidFill>
              </a:rPr>
              <a:t>Prioridades</a:t>
            </a:r>
            <a:r>
              <a:rPr sz="1700" b="0">
                <a:solidFill>
                  <a:srgbClr val="1F2937"/>
                </a:solidFill>
              </a:rPr>
              <a:t> (§13.7.2, p. 571) e o caso Mars Pathfinder (inversão de prioridade)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0" y="1325880"/>
            <a:ext cx="3959352" cy="2834640"/>
          </a:xfrm>
          <a:prstGeom prst="roundRect">
            <a:avLst>
              <a:gd name="adj" fmla="val 7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>
            <a:no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766E"/>
                </a:solidFill>
              </a:rPr>
              <a:t>Entrega sugerida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</a:rPr>
              <a:t>Resolva o problema do jantar dos filósofos em duas linguagens (ex.: Java com travas e Go com canais) e explique como cada solução evita o impasse.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4343400"/>
            <a:ext cx="3959352" cy="169164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>
            <a:no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</a:rPr>
              <a:t>Próxima aula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</a:rPr>
              <a:t>Tratamento de exceções e de eventos (Cap. 14)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